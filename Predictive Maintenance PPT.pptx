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5396E3-358C-4BFD-83F4-BA7FABFA7A05}">
          <p14:sldIdLst>
            <p14:sldId id="256"/>
            <p14:sldId id="257"/>
            <p14:sldId id="258"/>
            <p14:sldId id="259"/>
          </p14:sldIdLst>
        </p14:section>
        <p14:section name="Analysis" id="{D7314D43-2F4E-AD43-AD18-C433F498973D}">
          <p14:sldIdLst>
            <p14:sldId id="260"/>
            <p14:sldId id="261"/>
          </p14:sldIdLst>
        </p14:section>
        <p14:section name="Modelling" id="{85F82905-6F2A-E56A-0CBC-21645B7B9551}">
          <p14:sldIdLst>
            <p14:sldId id="262"/>
            <p14:sldId id="263"/>
            <p14:sldId id="264"/>
            <p14:sldId id="265"/>
            <p14:sldId id="266"/>
            <p14:sldId id="267"/>
          </p14:sldIdLst>
        </p14:section>
        <p14:section name="Deployment" id="{707F7EA9-3257-1F26-58FC-60F9FDCF6345}">
          <p14:sldIdLst>
            <p14:sldId id="268"/>
            <p14:sldId id="269"/>
            <p14:sldId id="270"/>
          </p14:sldIdLst>
        </p14:section>
        <p14:section name="Wrap-up" id="{863457F5-72FE-7342-0612-6059AA3E151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B98523-44B8-4092-A897-9D37C745BBF0}" v="9" dt="2026-10-29T12:55:32.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m rajput" userId="9735bc5970adf9b3" providerId="LiveId" clId="{BF0E2367-BBE2-4E4A-8B93-7A4EA12E14CF}"/>
    <pc:docChg chg="undo custSel modSld modMainMaster">
      <pc:chgData name="shivam rajput" userId="9735bc5970adf9b3" providerId="LiveId" clId="{BF0E2367-BBE2-4E4A-8B93-7A4EA12E14CF}" dt="2026-10-29T12:55:32.026" v="18"/>
      <pc:docMkLst>
        <pc:docMk/>
      </pc:docMkLst>
      <pc:sldChg chg="modSp mod">
        <pc:chgData name="shivam rajput" userId="9735bc5970adf9b3" providerId="LiveId" clId="{BF0E2367-BBE2-4E4A-8B93-7A4EA12E14CF}" dt="2026-10-29T12:55:31.515" v="17" actId="13926"/>
        <pc:sldMkLst>
          <pc:docMk/>
          <pc:sldMk cId="0" sldId="256"/>
        </pc:sldMkLst>
        <pc:spChg chg="mod">
          <ac:chgData name="shivam rajput" userId="9735bc5970adf9b3" providerId="LiveId" clId="{BF0E2367-BBE2-4E4A-8B93-7A4EA12E14CF}" dt="2026-10-29T12:55:31.515" v="17" actId="13926"/>
          <ac:spMkLst>
            <pc:docMk/>
            <pc:sldMk cId="0" sldId="256"/>
            <ac:spMk id="4" creationId="{00000000-0000-0000-0000-000000000000}"/>
          </ac:spMkLst>
        </pc:spChg>
        <pc:spChg chg="mod">
          <ac:chgData name="shivam rajput" userId="9735bc5970adf9b3" providerId="LiveId" clId="{BF0E2367-BBE2-4E4A-8B93-7A4EA12E14CF}" dt="2026-10-29T12:52:27.169" v="4"/>
          <ac:spMkLst>
            <pc:docMk/>
            <pc:sldMk cId="0" sldId="256"/>
            <ac:spMk id="5" creationId="{00000000-0000-0000-0000-000000000000}"/>
          </ac:spMkLst>
        </pc:spChg>
        <pc:spChg chg="mod">
          <ac:chgData name="shivam rajput" userId="9735bc5970adf9b3" providerId="LiveId" clId="{BF0E2367-BBE2-4E4A-8B93-7A4EA12E14CF}" dt="2026-10-29T12:54:28.698" v="12" actId="1076"/>
          <ac:spMkLst>
            <pc:docMk/>
            <pc:sldMk cId="0" sldId="256"/>
            <ac:spMk id="6" creationId="{00000000-0000-0000-0000-000000000000}"/>
          </ac:spMkLst>
        </pc:spChg>
      </pc:sldChg>
      <pc:sldChg chg="modSp">
        <pc:chgData name="shivam rajput" userId="9735bc5970adf9b3" providerId="LiveId" clId="{BF0E2367-BBE2-4E4A-8B93-7A4EA12E14CF}" dt="2026-10-29T12:52:27.169" v="4"/>
        <pc:sldMkLst>
          <pc:docMk/>
          <pc:sldMk cId="0" sldId="257"/>
        </pc:sldMkLst>
        <pc:spChg chg="mod">
          <ac:chgData name="shivam rajput" userId="9735bc5970adf9b3" providerId="LiveId" clId="{BF0E2367-BBE2-4E4A-8B93-7A4EA12E14CF}" dt="2026-10-29T12:52:27.169" v="4"/>
          <ac:spMkLst>
            <pc:docMk/>
            <pc:sldMk cId="0" sldId="257"/>
            <ac:spMk id="2" creationId="{00000000-0000-0000-0000-000000000000}"/>
          </ac:spMkLst>
        </pc:spChg>
      </pc:sldChg>
      <pc:sldChg chg="modSp">
        <pc:chgData name="shivam rajput" userId="9735bc5970adf9b3" providerId="LiveId" clId="{BF0E2367-BBE2-4E4A-8B93-7A4EA12E14CF}" dt="2026-10-29T12:52:27.169" v="4"/>
        <pc:sldMkLst>
          <pc:docMk/>
          <pc:sldMk cId="0" sldId="258"/>
        </pc:sldMkLst>
        <pc:spChg chg="mod">
          <ac:chgData name="shivam rajput" userId="9735bc5970adf9b3" providerId="LiveId" clId="{BF0E2367-BBE2-4E4A-8B93-7A4EA12E14CF}" dt="2026-10-29T12:52:27.169" v="4"/>
          <ac:spMkLst>
            <pc:docMk/>
            <pc:sldMk cId="0" sldId="258"/>
            <ac:spMk id="2" creationId="{00000000-0000-0000-0000-000000000000}"/>
          </ac:spMkLst>
        </pc:spChg>
      </pc:sldChg>
      <pc:sldChg chg="modSp">
        <pc:chgData name="shivam rajput" userId="9735bc5970adf9b3" providerId="LiveId" clId="{BF0E2367-BBE2-4E4A-8B93-7A4EA12E14CF}" dt="2026-10-29T12:52:27.169" v="4"/>
        <pc:sldMkLst>
          <pc:docMk/>
          <pc:sldMk cId="0" sldId="259"/>
        </pc:sldMkLst>
        <pc:spChg chg="mod">
          <ac:chgData name="shivam rajput" userId="9735bc5970adf9b3" providerId="LiveId" clId="{BF0E2367-BBE2-4E4A-8B93-7A4EA12E14CF}" dt="2026-10-29T12:52:27.169" v="4"/>
          <ac:spMkLst>
            <pc:docMk/>
            <pc:sldMk cId="0" sldId="259"/>
            <ac:spMk id="2" creationId="{00000000-0000-0000-0000-000000000000}"/>
          </ac:spMkLst>
        </pc:spChg>
      </pc:sldChg>
      <pc:sldChg chg="modSp">
        <pc:chgData name="shivam rajput" userId="9735bc5970adf9b3" providerId="LiveId" clId="{BF0E2367-BBE2-4E4A-8B93-7A4EA12E14CF}" dt="2026-10-29T12:52:27.169" v="4"/>
        <pc:sldMkLst>
          <pc:docMk/>
          <pc:sldMk cId="0" sldId="260"/>
        </pc:sldMkLst>
        <pc:spChg chg="mod">
          <ac:chgData name="shivam rajput" userId="9735bc5970adf9b3" providerId="LiveId" clId="{BF0E2367-BBE2-4E4A-8B93-7A4EA12E14CF}" dt="2026-10-29T12:52:27.169" v="4"/>
          <ac:spMkLst>
            <pc:docMk/>
            <pc:sldMk cId="0" sldId="260"/>
            <ac:spMk id="2" creationId="{00000000-0000-0000-0000-000000000000}"/>
          </ac:spMkLst>
        </pc:spChg>
      </pc:sldChg>
      <pc:sldChg chg="modSp">
        <pc:chgData name="shivam rajput" userId="9735bc5970adf9b3" providerId="LiveId" clId="{BF0E2367-BBE2-4E4A-8B93-7A4EA12E14CF}" dt="2026-10-29T12:52:27.169" v="4"/>
        <pc:sldMkLst>
          <pc:docMk/>
          <pc:sldMk cId="0" sldId="261"/>
        </pc:sldMkLst>
        <pc:spChg chg="mod">
          <ac:chgData name="shivam rajput" userId="9735bc5970adf9b3" providerId="LiveId" clId="{BF0E2367-BBE2-4E4A-8B93-7A4EA12E14CF}" dt="2026-10-29T12:52:27.169" v="4"/>
          <ac:spMkLst>
            <pc:docMk/>
            <pc:sldMk cId="0" sldId="261"/>
            <ac:spMk id="2" creationId="{00000000-0000-0000-0000-000000000000}"/>
          </ac:spMkLst>
        </pc:spChg>
      </pc:sldChg>
      <pc:sldChg chg="modSp">
        <pc:chgData name="shivam rajput" userId="9735bc5970adf9b3" providerId="LiveId" clId="{BF0E2367-BBE2-4E4A-8B93-7A4EA12E14CF}" dt="2026-10-29T12:52:27.169" v="4"/>
        <pc:sldMkLst>
          <pc:docMk/>
          <pc:sldMk cId="0" sldId="262"/>
        </pc:sldMkLst>
        <pc:spChg chg="mod">
          <ac:chgData name="shivam rajput" userId="9735bc5970adf9b3" providerId="LiveId" clId="{BF0E2367-BBE2-4E4A-8B93-7A4EA12E14CF}" dt="2026-10-29T12:52:27.169" v="4"/>
          <ac:spMkLst>
            <pc:docMk/>
            <pc:sldMk cId="0" sldId="262"/>
            <ac:spMk id="2" creationId="{00000000-0000-0000-0000-000000000000}"/>
          </ac:spMkLst>
        </pc:spChg>
      </pc:sldChg>
      <pc:sldChg chg="modSp">
        <pc:chgData name="shivam rajput" userId="9735bc5970adf9b3" providerId="LiveId" clId="{BF0E2367-BBE2-4E4A-8B93-7A4EA12E14CF}" dt="2026-10-29T12:52:27.169" v="4"/>
        <pc:sldMkLst>
          <pc:docMk/>
          <pc:sldMk cId="0" sldId="263"/>
        </pc:sldMkLst>
        <pc:spChg chg="mod">
          <ac:chgData name="shivam rajput" userId="9735bc5970adf9b3" providerId="LiveId" clId="{BF0E2367-BBE2-4E4A-8B93-7A4EA12E14CF}" dt="2026-10-29T12:52:27.169" v="4"/>
          <ac:spMkLst>
            <pc:docMk/>
            <pc:sldMk cId="0" sldId="263"/>
            <ac:spMk id="2" creationId="{00000000-0000-0000-0000-000000000000}"/>
          </ac:spMkLst>
        </pc:spChg>
      </pc:sldChg>
      <pc:sldChg chg="modSp">
        <pc:chgData name="shivam rajput" userId="9735bc5970adf9b3" providerId="LiveId" clId="{BF0E2367-BBE2-4E4A-8B93-7A4EA12E14CF}" dt="2026-10-29T12:52:27.169" v="4"/>
        <pc:sldMkLst>
          <pc:docMk/>
          <pc:sldMk cId="0" sldId="264"/>
        </pc:sldMkLst>
        <pc:spChg chg="mod">
          <ac:chgData name="shivam rajput" userId="9735bc5970adf9b3" providerId="LiveId" clId="{BF0E2367-BBE2-4E4A-8B93-7A4EA12E14CF}" dt="2026-10-29T12:52:27.169" v="4"/>
          <ac:spMkLst>
            <pc:docMk/>
            <pc:sldMk cId="0" sldId="264"/>
            <ac:spMk id="2" creationId="{00000000-0000-0000-0000-000000000000}"/>
          </ac:spMkLst>
        </pc:spChg>
      </pc:sldChg>
      <pc:sldChg chg="modSp">
        <pc:chgData name="shivam rajput" userId="9735bc5970adf9b3" providerId="LiveId" clId="{BF0E2367-BBE2-4E4A-8B93-7A4EA12E14CF}" dt="2026-10-29T12:52:27.169" v="4"/>
        <pc:sldMkLst>
          <pc:docMk/>
          <pc:sldMk cId="0" sldId="265"/>
        </pc:sldMkLst>
        <pc:spChg chg="mod">
          <ac:chgData name="shivam rajput" userId="9735bc5970adf9b3" providerId="LiveId" clId="{BF0E2367-BBE2-4E4A-8B93-7A4EA12E14CF}" dt="2026-10-29T12:52:27.169" v="4"/>
          <ac:spMkLst>
            <pc:docMk/>
            <pc:sldMk cId="0" sldId="265"/>
            <ac:spMk id="2" creationId="{00000000-0000-0000-0000-000000000000}"/>
          </ac:spMkLst>
        </pc:spChg>
      </pc:sldChg>
      <pc:sldChg chg="modSp">
        <pc:chgData name="shivam rajput" userId="9735bc5970adf9b3" providerId="LiveId" clId="{BF0E2367-BBE2-4E4A-8B93-7A4EA12E14CF}" dt="2026-10-29T12:52:27.169" v="4"/>
        <pc:sldMkLst>
          <pc:docMk/>
          <pc:sldMk cId="0" sldId="266"/>
        </pc:sldMkLst>
        <pc:spChg chg="mod">
          <ac:chgData name="shivam rajput" userId="9735bc5970adf9b3" providerId="LiveId" clId="{BF0E2367-BBE2-4E4A-8B93-7A4EA12E14CF}" dt="2026-10-29T12:52:27.169" v="4"/>
          <ac:spMkLst>
            <pc:docMk/>
            <pc:sldMk cId="0" sldId="266"/>
            <ac:spMk id="2" creationId="{00000000-0000-0000-0000-000000000000}"/>
          </ac:spMkLst>
        </pc:spChg>
      </pc:sldChg>
      <pc:sldChg chg="modSp">
        <pc:chgData name="shivam rajput" userId="9735bc5970adf9b3" providerId="LiveId" clId="{BF0E2367-BBE2-4E4A-8B93-7A4EA12E14CF}" dt="2026-10-29T12:52:27.169" v="4"/>
        <pc:sldMkLst>
          <pc:docMk/>
          <pc:sldMk cId="0" sldId="267"/>
        </pc:sldMkLst>
        <pc:spChg chg="mod">
          <ac:chgData name="shivam rajput" userId="9735bc5970adf9b3" providerId="LiveId" clId="{BF0E2367-BBE2-4E4A-8B93-7A4EA12E14CF}" dt="2026-10-29T12:52:27.169" v="4"/>
          <ac:spMkLst>
            <pc:docMk/>
            <pc:sldMk cId="0" sldId="267"/>
            <ac:spMk id="2" creationId="{00000000-0000-0000-0000-000000000000}"/>
          </ac:spMkLst>
        </pc:spChg>
      </pc:sldChg>
      <pc:sldChg chg="modSp">
        <pc:chgData name="shivam rajput" userId="9735bc5970adf9b3" providerId="LiveId" clId="{BF0E2367-BBE2-4E4A-8B93-7A4EA12E14CF}" dt="2026-10-29T12:52:27.169" v="4"/>
        <pc:sldMkLst>
          <pc:docMk/>
          <pc:sldMk cId="0" sldId="268"/>
        </pc:sldMkLst>
        <pc:spChg chg="mod">
          <ac:chgData name="shivam rajput" userId="9735bc5970adf9b3" providerId="LiveId" clId="{BF0E2367-BBE2-4E4A-8B93-7A4EA12E14CF}" dt="2026-10-29T12:52:27.169" v="4"/>
          <ac:spMkLst>
            <pc:docMk/>
            <pc:sldMk cId="0" sldId="268"/>
            <ac:spMk id="2" creationId="{00000000-0000-0000-0000-000000000000}"/>
          </ac:spMkLst>
        </pc:spChg>
      </pc:sldChg>
      <pc:sldChg chg="modSp">
        <pc:chgData name="shivam rajput" userId="9735bc5970adf9b3" providerId="LiveId" clId="{BF0E2367-BBE2-4E4A-8B93-7A4EA12E14CF}" dt="2026-10-29T12:52:27.169" v="4"/>
        <pc:sldMkLst>
          <pc:docMk/>
          <pc:sldMk cId="0" sldId="269"/>
        </pc:sldMkLst>
        <pc:spChg chg="mod">
          <ac:chgData name="shivam rajput" userId="9735bc5970adf9b3" providerId="LiveId" clId="{BF0E2367-BBE2-4E4A-8B93-7A4EA12E14CF}" dt="2026-10-29T12:52:27.169" v="4"/>
          <ac:spMkLst>
            <pc:docMk/>
            <pc:sldMk cId="0" sldId="269"/>
            <ac:spMk id="2" creationId="{00000000-0000-0000-0000-000000000000}"/>
          </ac:spMkLst>
        </pc:spChg>
      </pc:sldChg>
      <pc:sldChg chg="modSp mod">
        <pc:chgData name="shivam rajput" userId="9735bc5970adf9b3" providerId="LiveId" clId="{BF0E2367-BBE2-4E4A-8B93-7A4EA12E14CF}" dt="2026-10-29T12:52:27.169" v="4"/>
        <pc:sldMkLst>
          <pc:docMk/>
          <pc:sldMk cId="0" sldId="270"/>
        </pc:sldMkLst>
        <pc:spChg chg="mod">
          <ac:chgData name="shivam rajput" userId="9735bc5970adf9b3" providerId="LiveId" clId="{BF0E2367-BBE2-4E4A-8B93-7A4EA12E14CF}" dt="2026-10-29T12:52:27.169" v="4"/>
          <ac:spMkLst>
            <pc:docMk/>
            <pc:sldMk cId="0" sldId="270"/>
            <ac:spMk id="2" creationId="{00000000-0000-0000-0000-000000000000}"/>
          </ac:spMkLst>
        </pc:spChg>
        <pc:picChg chg="mod">
          <ac:chgData name="shivam rajput" userId="9735bc5970adf9b3" providerId="LiveId" clId="{BF0E2367-BBE2-4E4A-8B93-7A4EA12E14CF}" dt="2026-10-29T12:51:44.229" v="0" actId="14826"/>
          <ac:picMkLst>
            <pc:docMk/>
            <pc:sldMk cId="0" sldId="270"/>
            <ac:picMk id="3" creationId="{00000000-0000-0000-0000-000000000000}"/>
          </ac:picMkLst>
        </pc:picChg>
      </pc:sldChg>
      <pc:sldChg chg="modSp">
        <pc:chgData name="shivam rajput" userId="9735bc5970adf9b3" providerId="LiveId" clId="{BF0E2367-BBE2-4E4A-8B93-7A4EA12E14CF}" dt="2026-10-29T12:52:27.169" v="4"/>
        <pc:sldMkLst>
          <pc:docMk/>
          <pc:sldMk cId="0" sldId="271"/>
        </pc:sldMkLst>
        <pc:spChg chg="mod">
          <ac:chgData name="shivam rajput" userId="9735bc5970adf9b3" providerId="LiveId" clId="{BF0E2367-BBE2-4E4A-8B93-7A4EA12E14CF}" dt="2026-10-29T12:52:27.169" v="4"/>
          <ac:spMkLst>
            <pc:docMk/>
            <pc:sldMk cId="0" sldId="271"/>
            <ac:spMk id="2" creationId="{00000000-0000-0000-0000-000000000000}"/>
          </ac:spMkLst>
        </pc:spChg>
      </pc:sldChg>
      <pc:sldChg chg="modSp">
        <pc:chgData name="shivam rajput" userId="9735bc5970adf9b3" providerId="LiveId" clId="{BF0E2367-BBE2-4E4A-8B93-7A4EA12E14CF}" dt="2026-10-29T12:52:27.169" v="4"/>
        <pc:sldMkLst>
          <pc:docMk/>
          <pc:sldMk cId="0" sldId="272"/>
        </pc:sldMkLst>
        <pc:spChg chg="mod">
          <ac:chgData name="shivam rajput" userId="9735bc5970adf9b3" providerId="LiveId" clId="{BF0E2367-BBE2-4E4A-8B93-7A4EA12E14CF}" dt="2026-10-29T12:52:27.169" v="4"/>
          <ac:spMkLst>
            <pc:docMk/>
            <pc:sldMk cId="0" sldId="272"/>
            <ac:spMk id="2" creationId="{00000000-0000-0000-0000-000000000000}"/>
          </ac:spMkLst>
        </pc:spChg>
      </pc:sldChg>
      <pc:sldMasterChg chg="setBg modSldLayout">
        <pc:chgData name="shivam rajput" userId="9735bc5970adf9b3" providerId="LiveId" clId="{BF0E2367-BBE2-4E4A-8B93-7A4EA12E14CF}" dt="2026-10-29T12:55:32.026" v="18"/>
        <pc:sldMasterMkLst>
          <pc:docMk/>
          <pc:sldMasterMk cId="0" sldId="2147483648"/>
        </pc:sldMasterMkLst>
        <pc:sldLayoutChg chg="setBg">
          <pc:chgData name="shivam rajput" userId="9735bc5970adf9b3" providerId="LiveId" clId="{BF0E2367-BBE2-4E4A-8B93-7A4EA12E14CF}" dt="2026-10-29T12:55:32.026" v="18"/>
          <pc:sldLayoutMkLst>
            <pc:docMk/>
            <pc:sldMasterMk cId="0" sldId="2147483648"/>
            <pc:sldLayoutMk cId="0" sldId="2147483649"/>
          </pc:sldLayoutMkLst>
        </pc:sldLayoutChg>
        <pc:sldLayoutChg chg="setBg">
          <pc:chgData name="shivam rajput" userId="9735bc5970adf9b3" providerId="LiveId" clId="{BF0E2367-BBE2-4E4A-8B93-7A4EA12E14CF}" dt="2026-10-29T12:55:32.026" v="18"/>
          <pc:sldLayoutMkLst>
            <pc:docMk/>
            <pc:sldMasterMk cId="0" sldId="2147483648"/>
            <pc:sldLayoutMk cId="0" sldId="2147483650"/>
          </pc:sldLayoutMkLst>
        </pc:sldLayoutChg>
        <pc:sldLayoutChg chg="setBg">
          <pc:chgData name="shivam rajput" userId="9735bc5970adf9b3" providerId="LiveId" clId="{BF0E2367-BBE2-4E4A-8B93-7A4EA12E14CF}" dt="2026-10-29T12:55:32.026" v="18"/>
          <pc:sldLayoutMkLst>
            <pc:docMk/>
            <pc:sldMasterMk cId="0" sldId="2147483648"/>
            <pc:sldLayoutMk cId="0" sldId="2147483651"/>
          </pc:sldLayoutMkLst>
        </pc:sldLayoutChg>
        <pc:sldLayoutChg chg="setBg">
          <pc:chgData name="shivam rajput" userId="9735bc5970adf9b3" providerId="LiveId" clId="{BF0E2367-BBE2-4E4A-8B93-7A4EA12E14CF}" dt="2026-10-29T12:55:32.026" v="18"/>
          <pc:sldLayoutMkLst>
            <pc:docMk/>
            <pc:sldMasterMk cId="0" sldId="2147483648"/>
            <pc:sldLayoutMk cId="0" sldId="2147483652"/>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36"/>
                </a:solidFill>
                <a:latin typeface="+mn-lt"/>
              </a:defRPr>
            </a:pPr>
            <a:r>
              <a:rPr lang="en-US" sz="1300" b="0" i="0" u="none" strike="noStrike">
                <a:solidFill>
                  <a:srgbClr val="1F2A36"/>
                </a:solidFill>
                <a:latin typeface="+mn-lt"/>
              </a:rPr>
              <a:t>Failed vs normal machines: change in mean (%)</a:t>
            </a:r>
          </a:p>
        </c:rich>
      </c:tx>
      <c:overlay val="0"/>
    </c:title>
    <c:autoTitleDeleted val="0"/>
    <c:plotArea>
      <c:layout/>
      <c:barChart>
        <c:barDir val="col"/>
        <c:grouping val="clustered"/>
        <c:varyColors val="0"/>
        <c:ser>
          <c:idx val="0"/>
          <c:order val="0"/>
          <c:tx>
            <c:strRef>
              <c:f>Sheet1!$B$1</c:f>
              <c:strCache>
                <c:ptCount val="1"/>
                <c:pt idx="0">
                  <c:v>Change vs normal (%)</c:v>
                </c:pt>
              </c:strCache>
            </c:strRef>
          </c:tx>
          <c:spPr>
            <a:solidFill>
              <a:srgbClr val="A9B4BE"/>
            </a:solidFill>
            <a:effectLst/>
          </c:spPr>
          <c:invertIfNegative val="0"/>
          <c:dPt>
            <c:idx val="0"/>
            <c:invertIfNegative val="0"/>
            <c:bubble3D val="0"/>
            <c:extLst>
              <c:ext xmlns:c16="http://schemas.microsoft.com/office/drawing/2014/chart" uri="{C3380CC4-5D6E-409C-BE32-E72D297353CC}">
                <c16:uniqueId val="{00000001-9D1F-4EB8-8A1D-3FD16F0E1F43}"/>
              </c:ext>
            </c:extLst>
          </c:dPt>
          <c:dPt>
            <c:idx val="1"/>
            <c:invertIfNegative val="0"/>
            <c:bubble3D val="0"/>
            <c:extLst>
              <c:ext xmlns:c16="http://schemas.microsoft.com/office/drawing/2014/chart" uri="{C3380CC4-5D6E-409C-BE32-E72D297353CC}">
                <c16:uniqueId val="{00000003-9D1F-4EB8-8A1D-3FD16F0E1F43}"/>
              </c:ext>
            </c:extLst>
          </c:dPt>
          <c:dPt>
            <c:idx val="2"/>
            <c:invertIfNegative val="0"/>
            <c:bubble3D val="0"/>
            <c:extLst>
              <c:ext xmlns:c16="http://schemas.microsoft.com/office/drawing/2014/chart" uri="{C3380CC4-5D6E-409C-BE32-E72D297353CC}">
                <c16:uniqueId val="{00000005-9D1F-4EB8-8A1D-3FD16F0E1F43}"/>
              </c:ext>
            </c:extLst>
          </c:dPt>
          <c:dPt>
            <c:idx val="3"/>
            <c:invertIfNegative val="0"/>
            <c:bubble3D val="0"/>
            <c:spPr>
              <a:solidFill>
                <a:srgbClr val="E8730C"/>
              </a:solidFill>
              <a:effectLst/>
            </c:spPr>
            <c:extLst>
              <c:ext xmlns:c16="http://schemas.microsoft.com/office/drawing/2014/chart" uri="{C3380CC4-5D6E-409C-BE32-E72D297353CC}">
                <c16:uniqueId val="{00000007-9D1F-4EB8-8A1D-3FD16F0E1F43}"/>
              </c:ext>
            </c:extLst>
          </c:dPt>
          <c:dPt>
            <c:idx val="4"/>
            <c:invertIfNegative val="0"/>
            <c:bubble3D val="0"/>
            <c:spPr>
              <a:solidFill>
                <a:srgbClr val="E8730C"/>
              </a:solidFill>
              <a:effectLst/>
            </c:spPr>
            <c:extLst>
              <c:ext xmlns:c16="http://schemas.microsoft.com/office/drawing/2014/chart" uri="{C3380CC4-5D6E-409C-BE32-E72D297353CC}">
                <c16:uniqueId val="{00000009-9D1F-4EB8-8A1D-3FD16F0E1F43}"/>
              </c:ext>
            </c:extLst>
          </c:dPt>
          <c:dLbls>
            <c:numFmt formatCode="0.0" sourceLinked="0"/>
            <c:spPr>
              <a:noFill/>
              <a:ln>
                <a:noFill/>
              </a:ln>
              <a:effectLst/>
            </c:spPr>
            <c:txPr>
              <a:bodyPr/>
              <a:lstStyle/>
              <a:p>
                <a:pPr>
                  <a:defRPr sz="1200" b="0" i="0" u="none" strike="noStrike">
                    <a:solidFill>
                      <a:srgbClr val="1F2A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Air temp</c:v>
                </c:pt>
                <c:pt idx="1">
                  <c:v>Process temp</c:v>
                </c:pt>
                <c:pt idx="2">
                  <c:v>Rot. speed</c:v>
                </c:pt>
                <c:pt idx="3">
                  <c:v>Torque</c:v>
                </c:pt>
                <c:pt idx="4">
                  <c:v>Tool wear</c:v>
                </c:pt>
              </c:strCache>
            </c:strRef>
          </c:cat>
          <c:val>
            <c:numRef>
              <c:f>Sheet1!$B$2:$B$6</c:f>
              <c:numCache>
                <c:formatCode>General</c:formatCode>
                <c:ptCount val="5"/>
                <c:pt idx="0">
                  <c:v>0.3</c:v>
                </c:pt>
                <c:pt idx="1">
                  <c:v>0.1</c:v>
                </c:pt>
                <c:pt idx="2">
                  <c:v>-2.8</c:v>
                </c:pt>
                <c:pt idx="3">
                  <c:v>26.6</c:v>
                </c:pt>
                <c:pt idx="4">
                  <c:v>34.799999999999997</c:v>
                </c:pt>
              </c:numCache>
            </c:numRef>
          </c:val>
          <c:extLst>
            <c:ext xmlns:c16="http://schemas.microsoft.com/office/drawing/2014/chart" uri="{C3380CC4-5D6E-409C-BE32-E72D297353CC}">
              <c16:uniqueId val="{0000000A-9D1F-4EB8-8A1D-3FD16F0E1F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6"/>
                </a:solidFill>
                <a:latin typeface="+mn-lt"/>
              </a:defRPr>
            </a:pPr>
            <a:endParaRPr lang="en-US"/>
          </a:p>
        </c:txPr>
        <c:crossAx val="2094734552"/>
        <c:crosses val="autoZero"/>
        <c:auto val="1"/>
        <c:lblAlgn val="ctr"/>
        <c:lblOffset val="100"/>
        <c:noMultiLvlLbl val="1"/>
      </c:catAx>
      <c:valAx>
        <c:axId val="2094734552"/>
        <c:scaling>
          <c:orientation val="minMax"/>
          <c:max val="45"/>
          <c:min val="-1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36"/>
                </a:solidFill>
                <a:latin typeface="+mn-lt"/>
              </a:defRPr>
            </a:pPr>
            <a:r>
              <a:rPr lang="en-IN" sz="1300" b="0" i="0" u="none" strike="noStrike">
                <a:solidFill>
                  <a:srgbClr val="1F2A36"/>
                </a:solidFill>
                <a:latin typeface="+mn-lt"/>
              </a:rPr>
              <a:t>Failure cases by mode</a:t>
            </a:r>
          </a:p>
        </c:rich>
      </c:tx>
      <c:overlay val="0"/>
    </c:title>
    <c:autoTitleDeleted val="0"/>
    <c:plotArea>
      <c:layout/>
      <c:barChart>
        <c:barDir val="col"/>
        <c:grouping val="clustered"/>
        <c:varyColors val="0"/>
        <c:ser>
          <c:idx val="0"/>
          <c:order val="0"/>
          <c:tx>
            <c:strRef>
              <c:f>Sheet1!$B$1</c:f>
              <c:strCache>
                <c:ptCount val="1"/>
                <c:pt idx="0">
                  <c:v>Cases</c:v>
                </c:pt>
              </c:strCache>
            </c:strRef>
          </c:tx>
          <c:spPr>
            <a:solidFill>
              <a:srgbClr val="E8730C"/>
            </a:solidFill>
            <a:effectLst/>
          </c:spPr>
          <c:invertIfNegative val="0"/>
          <c:dPt>
            <c:idx val="0"/>
            <c:invertIfNegative val="0"/>
            <c:bubble3D val="0"/>
            <c:extLst>
              <c:ext xmlns:c16="http://schemas.microsoft.com/office/drawing/2014/chart" uri="{C3380CC4-5D6E-409C-BE32-E72D297353CC}">
                <c16:uniqueId val="{00000001-84BF-4158-9431-2D20FE121F61}"/>
              </c:ext>
            </c:extLst>
          </c:dPt>
          <c:dPt>
            <c:idx val="1"/>
            <c:invertIfNegative val="0"/>
            <c:bubble3D val="0"/>
            <c:spPr>
              <a:solidFill>
                <a:srgbClr val="1D6F8C"/>
              </a:solidFill>
              <a:effectLst/>
            </c:spPr>
            <c:extLst>
              <c:ext xmlns:c16="http://schemas.microsoft.com/office/drawing/2014/chart" uri="{C3380CC4-5D6E-409C-BE32-E72D297353CC}">
                <c16:uniqueId val="{00000003-84BF-4158-9431-2D20FE121F61}"/>
              </c:ext>
            </c:extLst>
          </c:dPt>
          <c:dPt>
            <c:idx val="2"/>
            <c:invertIfNegative val="0"/>
            <c:bubble3D val="0"/>
            <c:spPr>
              <a:solidFill>
                <a:srgbClr val="1D6F8C"/>
              </a:solidFill>
              <a:effectLst/>
            </c:spPr>
            <c:extLst>
              <c:ext xmlns:c16="http://schemas.microsoft.com/office/drawing/2014/chart" uri="{C3380CC4-5D6E-409C-BE32-E72D297353CC}">
                <c16:uniqueId val="{00000005-84BF-4158-9431-2D20FE121F61}"/>
              </c:ext>
            </c:extLst>
          </c:dPt>
          <c:dPt>
            <c:idx val="3"/>
            <c:invertIfNegative val="0"/>
            <c:bubble3D val="0"/>
            <c:spPr>
              <a:solidFill>
                <a:srgbClr val="1D6F8C"/>
              </a:solidFill>
              <a:effectLst/>
            </c:spPr>
            <c:extLst>
              <c:ext xmlns:c16="http://schemas.microsoft.com/office/drawing/2014/chart" uri="{C3380CC4-5D6E-409C-BE32-E72D297353CC}">
                <c16:uniqueId val="{00000007-84BF-4158-9431-2D20FE121F61}"/>
              </c:ext>
            </c:extLst>
          </c:dPt>
          <c:dPt>
            <c:idx val="4"/>
            <c:invertIfNegative val="0"/>
            <c:bubble3D val="0"/>
            <c:spPr>
              <a:solidFill>
                <a:srgbClr val="1D6F8C"/>
              </a:solidFill>
              <a:effectLst/>
            </c:spPr>
            <c:extLst>
              <c:ext xmlns:c16="http://schemas.microsoft.com/office/drawing/2014/chart" uri="{C3380CC4-5D6E-409C-BE32-E72D297353CC}">
                <c16:uniqueId val="{00000009-84BF-4158-9431-2D20FE121F61}"/>
              </c:ext>
            </c:extLst>
          </c:dPt>
          <c:dLbls>
            <c:numFmt formatCode="#,##0" sourceLinked="0"/>
            <c:spPr>
              <a:noFill/>
              <a:ln>
                <a:noFill/>
              </a:ln>
              <a:effectLst/>
            </c:spPr>
            <c:txPr>
              <a:bodyPr/>
              <a:lstStyle/>
              <a:p>
                <a:pPr>
                  <a:defRPr sz="1200" b="0" i="0" u="none" strike="noStrike">
                    <a:solidFill>
                      <a:srgbClr val="1F2A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HDF</c:v>
                </c:pt>
                <c:pt idx="1">
                  <c:v>OSF</c:v>
                </c:pt>
                <c:pt idx="2">
                  <c:v>PWF</c:v>
                </c:pt>
                <c:pt idx="3">
                  <c:v>TWF</c:v>
                </c:pt>
                <c:pt idx="4">
                  <c:v>RNF</c:v>
                </c:pt>
              </c:strCache>
            </c:strRef>
          </c:cat>
          <c:val>
            <c:numRef>
              <c:f>Sheet1!$B$2:$B$6</c:f>
              <c:numCache>
                <c:formatCode>General</c:formatCode>
                <c:ptCount val="5"/>
                <c:pt idx="0">
                  <c:v>115</c:v>
                </c:pt>
                <c:pt idx="1">
                  <c:v>98</c:v>
                </c:pt>
                <c:pt idx="2">
                  <c:v>95</c:v>
                </c:pt>
                <c:pt idx="3">
                  <c:v>46</c:v>
                </c:pt>
                <c:pt idx="4">
                  <c:v>19</c:v>
                </c:pt>
              </c:numCache>
            </c:numRef>
          </c:val>
          <c:extLst>
            <c:ext xmlns:c16="http://schemas.microsoft.com/office/drawing/2014/chart" uri="{C3380CC4-5D6E-409C-BE32-E72D297353CC}">
              <c16:uniqueId val="{0000000A-84BF-4158-9431-2D20FE121F6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6"/>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Precision</c:v>
                </c:pt>
              </c:strCache>
            </c:strRef>
          </c:tx>
          <c:spPr>
            <a:solidFill>
              <a:srgbClr val="2A9D8F"/>
            </a:solidFill>
            <a:effectLst/>
          </c:spPr>
          <c:invertIfNegative val="0"/>
          <c:cat>
            <c:strRef>
              <c:f>Sheet1!$A$2:$A$7</c:f>
              <c:strCache>
                <c:ptCount val="6"/>
                <c:pt idx="0">
                  <c:v>LogReg</c:v>
                </c:pt>
                <c:pt idx="1">
                  <c:v>KNN</c:v>
                </c:pt>
                <c:pt idx="2">
                  <c:v>Tuned DT</c:v>
                </c:pt>
                <c:pt idx="3">
                  <c:v>Rand. Forest</c:v>
                </c:pt>
                <c:pt idx="4">
                  <c:v>Tuned SVM</c:v>
                </c:pt>
                <c:pt idx="5">
                  <c:v>Tuned GB</c:v>
                </c:pt>
              </c:strCache>
            </c:strRef>
          </c:cat>
          <c:val>
            <c:numRef>
              <c:f>Sheet1!$B$2:$B$7</c:f>
              <c:numCache>
                <c:formatCode>General</c:formatCode>
                <c:ptCount val="6"/>
                <c:pt idx="0">
                  <c:v>0.67</c:v>
                </c:pt>
                <c:pt idx="1">
                  <c:v>0.81</c:v>
                </c:pt>
                <c:pt idx="2">
                  <c:v>0.79</c:v>
                </c:pt>
                <c:pt idx="3">
                  <c:v>0.88</c:v>
                </c:pt>
                <c:pt idx="4">
                  <c:v>0.75</c:v>
                </c:pt>
                <c:pt idx="5">
                  <c:v>0.84</c:v>
                </c:pt>
              </c:numCache>
            </c:numRef>
          </c:val>
          <c:extLst>
            <c:ext xmlns:c16="http://schemas.microsoft.com/office/drawing/2014/chart" uri="{C3380CC4-5D6E-409C-BE32-E72D297353CC}">
              <c16:uniqueId val="{00000000-76EE-4CC4-B303-5593A2FCB8D7}"/>
            </c:ext>
          </c:extLst>
        </c:ser>
        <c:ser>
          <c:idx val="1"/>
          <c:order val="1"/>
          <c:tx>
            <c:strRef>
              <c:f>Sheet1!$C$1</c:f>
              <c:strCache>
                <c:ptCount val="1"/>
                <c:pt idx="0">
                  <c:v>Recall</c:v>
                </c:pt>
              </c:strCache>
            </c:strRef>
          </c:tx>
          <c:spPr>
            <a:solidFill>
              <a:srgbClr val="E8730C"/>
            </a:solidFill>
            <a:effectLst/>
          </c:spPr>
          <c:invertIfNegative val="0"/>
          <c:cat>
            <c:strRef>
              <c:f>Sheet1!$A$2:$A$7</c:f>
              <c:strCache>
                <c:ptCount val="6"/>
                <c:pt idx="0">
                  <c:v>LogReg</c:v>
                </c:pt>
                <c:pt idx="1">
                  <c:v>KNN</c:v>
                </c:pt>
                <c:pt idx="2">
                  <c:v>Tuned DT</c:v>
                </c:pt>
                <c:pt idx="3">
                  <c:v>Rand. Forest</c:v>
                </c:pt>
                <c:pt idx="4">
                  <c:v>Tuned SVM</c:v>
                </c:pt>
                <c:pt idx="5">
                  <c:v>Tuned GB</c:v>
                </c:pt>
              </c:strCache>
            </c:strRef>
          </c:cat>
          <c:val>
            <c:numRef>
              <c:f>Sheet1!$C$2:$C$7</c:f>
              <c:numCache>
                <c:formatCode>General</c:formatCode>
                <c:ptCount val="6"/>
                <c:pt idx="0">
                  <c:v>0.12</c:v>
                </c:pt>
                <c:pt idx="1">
                  <c:v>0.25</c:v>
                </c:pt>
                <c:pt idx="2">
                  <c:v>0.78</c:v>
                </c:pt>
                <c:pt idx="3">
                  <c:v>0.65</c:v>
                </c:pt>
                <c:pt idx="4">
                  <c:v>0.63</c:v>
                </c:pt>
                <c:pt idx="5">
                  <c:v>0.72</c:v>
                </c:pt>
              </c:numCache>
            </c:numRef>
          </c:val>
          <c:extLst>
            <c:ext xmlns:c16="http://schemas.microsoft.com/office/drawing/2014/chart" uri="{C3380CC4-5D6E-409C-BE32-E72D297353CC}">
              <c16:uniqueId val="{00000001-76EE-4CC4-B303-5593A2FCB8D7}"/>
            </c:ext>
          </c:extLst>
        </c:ser>
        <c:ser>
          <c:idx val="2"/>
          <c:order val="2"/>
          <c:tx>
            <c:strRef>
              <c:f>Sheet1!$D$1</c:f>
              <c:strCache>
                <c:ptCount val="1"/>
                <c:pt idx="0">
                  <c:v>F1</c:v>
                </c:pt>
              </c:strCache>
            </c:strRef>
          </c:tx>
          <c:spPr>
            <a:solidFill>
              <a:srgbClr val="1F2A36"/>
            </a:solidFill>
            <a:effectLst/>
          </c:spPr>
          <c:invertIfNegative val="0"/>
          <c:cat>
            <c:strRef>
              <c:f>Sheet1!$A$2:$A$7</c:f>
              <c:strCache>
                <c:ptCount val="6"/>
                <c:pt idx="0">
                  <c:v>LogReg</c:v>
                </c:pt>
                <c:pt idx="1">
                  <c:v>KNN</c:v>
                </c:pt>
                <c:pt idx="2">
                  <c:v>Tuned DT</c:v>
                </c:pt>
                <c:pt idx="3">
                  <c:v>Rand. Forest</c:v>
                </c:pt>
                <c:pt idx="4">
                  <c:v>Tuned SVM</c:v>
                </c:pt>
                <c:pt idx="5">
                  <c:v>Tuned GB</c:v>
                </c:pt>
              </c:strCache>
            </c:strRef>
          </c:cat>
          <c:val>
            <c:numRef>
              <c:f>Sheet1!$D$2:$D$7</c:f>
              <c:numCache>
                <c:formatCode>General</c:formatCode>
                <c:ptCount val="6"/>
                <c:pt idx="0">
                  <c:v>0.2</c:v>
                </c:pt>
                <c:pt idx="1">
                  <c:v>0.38</c:v>
                </c:pt>
                <c:pt idx="2">
                  <c:v>0.79</c:v>
                </c:pt>
                <c:pt idx="3">
                  <c:v>0.75</c:v>
                </c:pt>
                <c:pt idx="4">
                  <c:v>0.69</c:v>
                </c:pt>
                <c:pt idx="5">
                  <c:v>0.78</c:v>
                </c:pt>
              </c:numCache>
            </c:numRef>
          </c:val>
          <c:extLst>
            <c:ext xmlns:c16="http://schemas.microsoft.com/office/drawing/2014/chart" uri="{C3380CC4-5D6E-409C-BE32-E72D297353CC}">
              <c16:uniqueId val="{00000002-76EE-4CC4-B303-5593A2FCB8D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36"/>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3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36"/>
                </a:solidFill>
                <a:latin typeface="+mn-lt"/>
              </a:defRPr>
            </a:pPr>
            <a:r>
              <a:rPr lang="en-US" sz="1300" b="0" i="0" u="none" strike="noStrike">
                <a:solidFill>
                  <a:srgbClr val="1F2A36"/>
                </a:solidFill>
                <a:latin typeface="+mn-lt"/>
              </a:rPr>
              <a:t>Global SHAP importance (mean |SHAP|)</a:t>
            </a:r>
          </a:p>
        </c:rich>
      </c:tx>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A9B4BE"/>
            </a:solidFill>
            <a:effectLst/>
          </c:spPr>
          <c:invertIfNegative val="0"/>
          <c:dPt>
            <c:idx val="0"/>
            <c:invertIfNegative val="0"/>
            <c:bubble3D val="0"/>
            <c:extLst>
              <c:ext xmlns:c16="http://schemas.microsoft.com/office/drawing/2014/chart" uri="{C3380CC4-5D6E-409C-BE32-E72D297353CC}">
                <c16:uniqueId val="{00000001-0A37-4F6C-9B6A-D98B78227585}"/>
              </c:ext>
            </c:extLst>
          </c:dPt>
          <c:dPt>
            <c:idx val="1"/>
            <c:invertIfNegative val="0"/>
            <c:bubble3D val="0"/>
            <c:extLst>
              <c:ext xmlns:c16="http://schemas.microsoft.com/office/drawing/2014/chart" uri="{C3380CC4-5D6E-409C-BE32-E72D297353CC}">
                <c16:uniqueId val="{00000003-0A37-4F6C-9B6A-D98B78227585}"/>
              </c:ext>
            </c:extLst>
          </c:dPt>
          <c:dPt>
            <c:idx val="2"/>
            <c:invertIfNegative val="0"/>
            <c:bubble3D val="0"/>
            <c:extLst>
              <c:ext xmlns:c16="http://schemas.microsoft.com/office/drawing/2014/chart" uri="{C3380CC4-5D6E-409C-BE32-E72D297353CC}">
                <c16:uniqueId val="{00000005-0A37-4F6C-9B6A-D98B78227585}"/>
              </c:ext>
            </c:extLst>
          </c:dPt>
          <c:dPt>
            <c:idx val="3"/>
            <c:invertIfNegative val="0"/>
            <c:bubble3D val="0"/>
            <c:extLst>
              <c:ext xmlns:c16="http://schemas.microsoft.com/office/drawing/2014/chart" uri="{C3380CC4-5D6E-409C-BE32-E72D297353CC}">
                <c16:uniqueId val="{00000007-0A37-4F6C-9B6A-D98B78227585}"/>
              </c:ext>
            </c:extLst>
          </c:dPt>
          <c:dPt>
            <c:idx val="4"/>
            <c:invertIfNegative val="0"/>
            <c:bubble3D val="0"/>
            <c:spPr>
              <a:solidFill>
                <a:srgbClr val="E8730C"/>
              </a:solidFill>
              <a:effectLst/>
            </c:spPr>
            <c:extLst>
              <c:ext xmlns:c16="http://schemas.microsoft.com/office/drawing/2014/chart" uri="{C3380CC4-5D6E-409C-BE32-E72D297353CC}">
                <c16:uniqueId val="{00000009-0A37-4F6C-9B6A-D98B78227585}"/>
              </c:ext>
            </c:extLst>
          </c:dPt>
          <c:dPt>
            <c:idx val="5"/>
            <c:invertIfNegative val="0"/>
            <c:bubble3D val="0"/>
            <c:spPr>
              <a:solidFill>
                <a:srgbClr val="E8730C"/>
              </a:solidFill>
              <a:effectLst/>
            </c:spPr>
            <c:extLst>
              <c:ext xmlns:c16="http://schemas.microsoft.com/office/drawing/2014/chart" uri="{C3380CC4-5D6E-409C-BE32-E72D297353CC}">
                <c16:uniqueId val="{0000000B-0A37-4F6C-9B6A-D98B78227585}"/>
              </c:ext>
            </c:extLst>
          </c:dPt>
          <c:dLbls>
            <c:numFmt formatCode="0.000" sourceLinked="0"/>
            <c:spPr>
              <a:noFill/>
              <a:ln>
                <a:noFill/>
              </a:ln>
              <a:effectLst/>
            </c:spPr>
            <c:txPr>
              <a:bodyPr/>
              <a:lstStyle/>
              <a:p>
                <a:pPr>
                  <a:defRPr sz="1100" b="0" i="0" u="none" strike="noStrike">
                    <a:solidFill>
                      <a:srgbClr val="1F2A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Product type</c:v>
                </c:pt>
                <c:pt idx="1">
                  <c:v>Process temp</c:v>
                </c:pt>
                <c:pt idx="2">
                  <c:v>Air temp</c:v>
                </c:pt>
                <c:pt idx="3">
                  <c:v>Rot. speed</c:v>
                </c:pt>
                <c:pt idx="4">
                  <c:v>Tool wear</c:v>
                </c:pt>
                <c:pt idx="5">
                  <c:v>Torque</c:v>
                </c:pt>
              </c:strCache>
            </c:strRef>
          </c:cat>
          <c:val>
            <c:numRef>
              <c:f>Sheet1!$B$2:$B$7</c:f>
              <c:numCache>
                <c:formatCode>General</c:formatCode>
                <c:ptCount val="6"/>
                <c:pt idx="0">
                  <c:v>1.1000000000000001E-3</c:v>
                </c:pt>
                <c:pt idx="1">
                  <c:v>2.8E-3</c:v>
                </c:pt>
                <c:pt idx="2">
                  <c:v>1.8800000000000001E-2</c:v>
                </c:pt>
                <c:pt idx="3">
                  <c:v>2.0199999999999999E-2</c:v>
                </c:pt>
                <c:pt idx="4">
                  <c:v>7.1599999999999997E-2</c:v>
                </c:pt>
                <c:pt idx="5">
                  <c:v>0.85740000000000005</c:v>
                </c:pt>
              </c:numCache>
            </c:numRef>
          </c:val>
          <c:extLst>
            <c:ext xmlns:c16="http://schemas.microsoft.com/office/drawing/2014/chart" uri="{C3380CC4-5D6E-409C-BE32-E72D297353CC}">
              <c16:uniqueId val="{0000000C-0A37-4F6C-9B6A-D98B7822758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36"/>
                </a:solidFill>
                <a:latin typeface="+mn-lt"/>
              </a:defRPr>
            </a:pPr>
            <a:endParaRPr lang="en-US"/>
          </a:p>
        </c:txPr>
        <c:crossAx val="2094734552"/>
        <c:crosses val="autoZero"/>
        <c:auto val="1"/>
        <c:lblAlgn val="ctr"/>
        <c:lblOffset val="100"/>
        <c:noMultiLvlLbl val="1"/>
      </c:catAx>
      <c:valAx>
        <c:axId val="2094734552"/>
        <c:scaling>
          <c:orientation val="minMax"/>
          <c:max val="1"/>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A36"/>
                </a:solidFill>
                <a:latin typeface="+mn-lt"/>
              </a:defRPr>
            </a:pPr>
            <a:r>
              <a:rPr lang="en-IN" sz="1300" b="0" i="0" u="none" strike="noStrike">
                <a:solidFill>
                  <a:srgbClr val="1F2A36"/>
                </a:solidFill>
                <a:latin typeface="+mn-lt"/>
              </a:rPr>
              <a:t>Estimated failure probability (%)</a:t>
            </a:r>
          </a:p>
        </c:rich>
      </c:tx>
      <c:overlay val="0"/>
    </c:title>
    <c:autoTitleDeleted val="0"/>
    <c:plotArea>
      <c:layout/>
      <c:barChart>
        <c:barDir val="col"/>
        <c:grouping val="clustered"/>
        <c:varyColors val="0"/>
        <c:ser>
          <c:idx val="0"/>
          <c:order val="0"/>
          <c:tx>
            <c:strRef>
              <c:f>Sheet1!$B$1</c:f>
              <c:strCache>
                <c:ptCount val="1"/>
                <c:pt idx="0">
                  <c:v>Failure probability (%)</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AFBF-4842-A612-910115D1947F}"/>
              </c:ext>
            </c:extLst>
          </c:dPt>
          <c:dPt>
            <c:idx val="1"/>
            <c:invertIfNegative val="0"/>
            <c:bubble3D val="0"/>
            <c:spPr>
              <a:solidFill>
                <a:srgbClr val="1D6F8C"/>
              </a:solidFill>
              <a:effectLst/>
            </c:spPr>
            <c:extLst>
              <c:ext xmlns:c16="http://schemas.microsoft.com/office/drawing/2014/chart" uri="{C3380CC4-5D6E-409C-BE32-E72D297353CC}">
                <c16:uniqueId val="{00000003-AFBF-4842-A612-910115D1947F}"/>
              </c:ext>
            </c:extLst>
          </c:dPt>
          <c:dPt>
            <c:idx val="2"/>
            <c:invertIfNegative val="0"/>
            <c:bubble3D val="0"/>
            <c:spPr>
              <a:solidFill>
                <a:srgbClr val="E8730C"/>
              </a:solidFill>
              <a:effectLst/>
            </c:spPr>
            <c:extLst>
              <c:ext xmlns:c16="http://schemas.microsoft.com/office/drawing/2014/chart" uri="{C3380CC4-5D6E-409C-BE32-E72D297353CC}">
                <c16:uniqueId val="{00000005-AFBF-4842-A612-910115D1947F}"/>
              </c:ext>
            </c:extLst>
          </c:dPt>
          <c:dLbls>
            <c:numFmt formatCode="0.00" sourceLinked="0"/>
            <c:spPr>
              <a:noFill/>
              <a:ln>
                <a:noFill/>
              </a:ln>
              <a:effectLst/>
            </c:spPr>
            <c:txPr>
              <a:bodyPr/>
              <a:lstStyle/>
              <a:p>
                <a:pPr>
                  <a:defRPr sz="1200" b="0" i="0" u="none" strike="noStrike">
                    <a:solidFill>
                      <a:srgbClr val="1F2A3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Scenario 1</c:v>
                </c:pt>
                <c:pt idx="1">
                  <c:v>Scenario 2</c:v>
                </c:pt>
                <c:pt idx="2">
                  <c:v>Scenario 3</c:v>
                </c:pt>
              </c:strCache>
            </c:strRef>
          </c:cat>
          <c:val>
            <c:numRef>
              <c:f>Sheet1!$B$2:$B$4</c:f>
              <c:numCache>
                <c:formatCode>General</c:formatCode>
                <c:ptCount val="3"/>
                <c:pt idx="0">
                  <c:v>0.04</c:v>
                </c:pt>
                <c:pt idx="1">
                  <c:v>0.34</c:v>
                </c:pt>
                <c:pt idx="2">
                  <c:v>50</c:v>
                </c:pt>
              </c:numCache>
            </c:numRef>
          </c:val>
          <c:extLst>
            <c:ext xmlns:c16="http://schemas.microsoft.com/office/drawing/2014/chart" uri="{C3380CC4-5D6E-409C-BE32-E72D297353CC}">
              <c16:uniqueId val="{00000006-AFBF-4842-A612-910115D194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6"/>
                </a:solidFill>
                <a:latin typeface="+mn-lt"/>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597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machine-learning system that predicts whether a milling machine will fail, using routine operating readings, so maintenance can be planned instead of reactive.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Unexpected failures stop production, raise maintenance cost, delay deliveries and lower OEE. The project question is whether operating data can warn us in advance.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AI4I 2020 dataset: 10,000 rows, 339 failures. Only 3.4% of records are failures, which makes the problem imbalanced. Six predictors are used; the failure-mode flags are used for analysis only because they define the target.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split and preprocessing for every model so that the comparison is fair.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Failed machines run at about 27% higher torque and 35% higher tool wear. Speed is slightly lower and temperatures barely differ. Mechanical variables are better predictors than environmental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dissipation is the most common mode (34% of failures), then overstrain and power failure. Each mode appears under different operating conditions, which is why a model that looks at several readings together is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3.39% of the records are failures, so a model that never predicts a failure is 96.6% accurate. We judge models on failure-class precision, recall and F1.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models exceed 96% accuracy, so accuracy cannot separate them. The tuned Decision Tree has the highest recall and F1, Gradient Boosting the highest accuracy, Random Forest the highest precision. Logistic regression with class_weight=balanced reached recall 0.84 but accuracy fell to 82%, which shows the precision-recall trade-off.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and KNN miss most failures. The three strongest models are close; the Decision Tree catches the most failures while remaining interpretable.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Hyper-parameters: Gini criterion, max depth 10, min samples per leaf 4. On the test set it caught 53 of 68 failures with 14 false alarms and 15 missed failures. The test set is small, so the gap to Gradient Boosting (49 caught) should be confirmed with more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ROC-AUC of 0.918 shows strong ranking ability. For imbalanced data, average precision against the 3.4% prevalence is the more meaningful benchmark.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was applied to the tuned Decision Tree. Torque and tool wear dominate. A local explanation for machine 1391, a correctly predicted failure, showed torque contributing +0.857 and tool wear +0.071.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saved with joblib and wrapped in a reusable function. On the test set the Gradient Boosting risk classification flagged 58 of 2,000 machines as Failure Risk. The final framework uses the Decision Tree.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hypothetical machines show risk rising with torque and tool wear. Decision Tree probabilities are based on training samples in each leaf, so they are indicative only.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 pages for non-technical users: machine health and failure analysis, operating parameter analysis, and model insights with the maintenance action plan.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limitations: the dataset is synthetic and the test set is small. The model is decision support, not a replacement for inspection.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A3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25880"/>
            <a:ext cx="5852160" cy="155448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3017520"/>
            <a:ext cx="5486400" cy="822960"/>
          </a:xfrm>
          <a:prstGeom prst="rect">
            <a:avLst/>
          </a:prstGeom>
          <a:noFill/>
          <a:ln/>
        </p:spPr>
        <p:txBody>
          <a:bodyPr wrap="square" rtlCol="0"/>
          <a:lstStyle>
            <a:lvl1pPr marL="0" indent="0" algn="l">
              <a:buNone/>
              <a:defRPr lang="en-US" sz="1800" dirty="0">
                <a:solidFill>
                  <a:srgbClr val="C9D0D7"/>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F2A3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ears"/>
          <p:cNvPicPr>
            <a:picLocks noChangeAspect="1"/>
          </p:cNvPicPr>
          <p:nvPr/>
        </p:nvPicPr>
        <p:blipFill>
          <a:blip r:embed="rId3"/>
          <a:stretch>
            <a:fillRect/>
          </a:stretch>
        </p:blipFill>
        <p:spPr>
          <a:xfrm>
            <a:off x="6309360" y="822960"/>
            <a:ext cx="2651760" cy="2651760"/>
          </a:xfrm>
          <a:prstGeom prst="rect">
            <a:avLst/>
          </a:prstGeom>
        </p:spPr>
      </p:pic>
      <p:sp>
        <p:nvSpPr>
          <p:cNvPr id="3" name="Text 0"/>
          <p:cNvSpPr txBox="1"/>
          <p:nvPr/>
        </p:nvSpPr>
        <p:spPr>
          <a:xfrm>
            <a:off x="548640" y="777240"/>
            <a:ext cx="5852160" cy="320040"/>
          </a:xfrm>
          <a:prstGeom prst="rect">
            <a:avLst/>
          </a:prstGeom>
          <a:noFill/>
          <a:ln/>
        </p:spPr>
        <p:txBody>
          <a:bodyPr wrap="square" lIns="0" tIns="0" rIns="0" bIns="0" rtlCol="0" anchor="ctr"/>
          <a:lstStyle/>
          <a:p>
            <a:pPr marL="0" indent="0">
              <a:buNone/>
            </a:pPr>
            <a:r>
              <a:rPr lang="en-US" sz="1200" b="1" dirty="0">
                <a:solidFill>
                  <a:schemeClr val="accent1"/>
                </a:solidFill>
                <a:latin typeface="+mn-lt" pitchFamily="34" charset="0"/>
                <a:ea typeface="+mn-lt" pitchFamily="34" charset="-122"/>
                <a:cs typeface="+mn-lt" pitchFamily="34" charset="-120"/>
              </a:rPr>
              <a:t>MANUFACTURING ANALYTICS CAPSTONE PROJECT</a:t>
            </a:r>
            <a:endParaRPr lang="en-US" sz="1200" dirty="0"/>
          </a:p>
        </p:txBody>
      </p:sp>
      <p:sp>
        <p:nvSpPr>
          <p:cNvPr id="4" name="Text 0"/>
          <p:cNvSpPr>
            <a:spLocks noGrp="1"/>
          </p:cNvSpPr>
          <p:nvPr>
            <p:ph type="title" idx="100" hasCustomPrompt="1"/>
          </p:nvPr>
        </p:nvSpPr>
        <p:spPr>
          <a:xfrm>
            <a:off x="548640" y="1325880"/>
            <a:ext cx="5852160" cy="1554480"/>
          </a:xfrm>
          <a:prstGeom prst="rect">
            <a:avLst/>
          </a:prstGeom>
          <a:noFill/>
          <a:ln/>
        </p:spPr>
        <p:txBody>
          <a:bodyPr wrap="square" lIns="0" tIns="0" rIns="0" bIns="0" rtlCol="0" anchor="t"/>
          <a:lstStyle/>
          <a:p>
            <a:pPr marL="0" indent="0" algn="l">
              <a:buNone/>
            </a:pPr>
            <a:r>
              <a:rPr lang="en-US" sz="3800" b="1" dirty="0">
                <a:solidFill>
                  <a:schemeClr val="bg1"/>
                </a:solidFill>
              </a:rPr>
              <a:t>AI-Powered Predictive Maintenance System</a:t>
            </a:r>
            <a:endParaRPr lang="en-US" sz="3800" dirty="0"/>
          </a:p>
        </p:txBody>
      </p:sp>
      <p:sp>
        <p:nvSpPr>
          <p:cNvPr id="5" name="Text 0"/>
          <p:cNvSpPr>
            <a:spLocks noGrp="1"/>
          </p:cNvSpPr>
          <p:nvPr>
            <p:ph type="body" idx="101" hasCustomPrompt="1"/>
          </p:nvPr>
        </p:nvSpPr>
        <p:spPr>
          <a:xfrm>
            <a:off x="548640" y="3017520"/>
            <a:ext cx="5486400" cy="822960"/>
          </a:xfrm>
          <a:prstGeom prst="rect">
            <a:avLst/>
          </a:prstGeom>
          <a:noFill/>
          <a:ln/>
        </p:spPr>
        <p:txBody>
          <a:bodyPr wrap="square" lIns="0" tIns="0" rIns="0" bIns="0" rtlCol="0" anchor="t"/>
          <a:lstStyle/>
          <a:p>
            <a:pPr marL="0" indent="0" algn="l">
              <a:buNone/>
            </a:pPr>
            <a:r>
              <a:rPr lang="en-US" sz="1800" dirty="0">
                <a:solidFill>
                  <a:srgbClr val="C9D0D7"/>
                </a:solidFill>
              </a:rPr>
              <a:t>Predicting milling-machine failures from operating data</a:t>
            </a:r>
            <a:endParaRPr lang="en-US" sz="1800" dirty="0"/>
          </a:p>
        </p:txBody>
      </p:sp>
      <p:sp>
        <p:nvSpPr>
          <p:cNvPr id="6" name="Text 3"/>
          <p:cNvSpPr txBox="1"/>
          <p:nvPr/>
        </p:nvSpPr>
        <p:spPr>
          <a:xfrm>
            <a:off x="548640" y="4206240"/>
            <a:ext cx="5486400" cy="365760"/>
          </a:xfrm>
          <a:prstGeom prst="rect">
            <a:avLst/>
          </a:prstGeom>
          <a:noFill/>
          <a:ln/>
        </p:spPr>
        <p:txBody>
          <a:bodyPr wrap="square" lIns="0" tIns="0" rIns="0" bIns="0" rtlCol="0" anchor="ctr"/>
          <a:lstStyle/>
          <a:p>
            <a:pPr marL="0" indent="0">
              <a:buNone/>
            </a:pPr>
            <a:r>
              <a:rPr lang="en-US" sz="1600" b="1" dirty="0">
                <a:solidFill>
                  <a:schemeClr val="bg1"/>
                </a:solidFill>
                <a:latin typeface="+mn-lt" pitchFamily="34" charset="0"/>
                <a:ea typeface="+mn-lt" pitchFamily="34" charset="-122"/>
                <a:cs typeface="+mn-lt" pitchFamily="34" charset="-120"/>
              </a:rPr>
              <a:t>Shivam Kumar Rajput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Unplanned downtime is costly</a:t>
            </a:r>
            <a:endParaRPr lang="en-US" sz="3200" dirty="0"/>
          </a:p>
        </p:txBody>
      </p:sp>
      <p:sp>
        <p:nvSpPr>
          <p:cNvPr id="3" name="Text 1"/>
          <p:cNvSpPr txBox="1"/>
          <p:nvPr/>
        </p:nvSpPr>
        <p:spPr>
          <a:xfrm>
            <a:off x="457200" y="1280160"/>
            <a:ext cx="3566160" cy="320040"/>
          </a:xfrm>
          <a:prstGeom prst="rect">
            <a:avLst/>
          </a:prstGeom>
          <a:noFill/>
          <a:ln/>
        </p:spPr>
        <p:txBody>
          <a:bodyPr wrap="square" lIns="0" tIns="0" rIns="0" bIns="0" rtlCol="0" anchor="ctr"/>
          <a:lstStyle/>
          <a:p>
            <a:pPr marL="0" indent="0">
              <a:buNone/>
            </a:pPr>
            <a:r>
              <a:rPr lang="en-US" sz="1400" b="1" dirty="0">
                <a:solidFill>
                  <a:schemeClr val="accent1"/>
                </a:solidFill>
                <a:latin typeface="+mn-lt" pitchFamily="34" charset="0"/>
                <a:ea typeface="+mn-lt" pitchFamily="34" charset="-122"/>
                <a:cs typeface="+mn-lt" pitchFamily="34" charset="-120"/>
              </a:rPr>
              <a:t>The question</a:t>
            </a:r>
            <a:endParaRPr lang="en-US" sz="1400" dirty="0"/>
          </a:p>
        </p:txBody>
      </p:sp>
      <p:sp>
        <p:nvSpPr>
          <p:cNvPr id="4" name="Text 2"/>
          <p:cNvSpPr txBox="1"/>
          <p:nvPr/>
        </p:nvSpPr>
        <p:spPr>
          <a:xfrm>
            <a:off x="457200" y="1645920"/>
            <a:ext cx="3566160" cy="1737360"/>
          </a:xfrm>
          <a:prstGeom prst="rect">
            <a:avLst/>
          </a:prstGeom>
          <a:noFill/>
          <a:ln/>
        </p:spPr>
        <p:txBody>
          <a:bodyPr wrap="square" lIns="0" tIns="0" rIns="0" bIns="0" rtlCol="0" anchor="t"/>
          <a:lstStyle/>
          <a:p>
            <a:pPr marL="0" indent="0">
              <a:buNone/>
            </a:pPr>
            <a:r>
              <a:rPr lang="en-US" sz="2000" b="1" dirty="0">
                <a:solidFill>
                  <a:schemeClr val="tx1"/>
                </a:solidFill>
                <a:latin typeface="+mn-lt" pitchFamily="34" charset="0"/>
                <a:ea typeface="+mn-lt" pitchFamily="34" charset="-122"/>
                <a:cs typeface="+mn-lt" pitchFamily="34" charset="-120"/>
              </a:rPr>
              <a:t>Can routine operating readings predict a machine failure before it happens — and which readings matter most?</a:t>
            </a:r>
            <a:endParaRPr lang="en-US" sz="2000" dirty="0"/>
          </a:p>
        </p:txBody>
      </p:sp>
      <p:sp>
        <p:nvSpPr>
          <p:cNvPr id="5" name="Text 3"/>
          <p:cNvSpPr txBox="1"/>
          <p:nvPr/>
        </p:nvSpPr>
        <p:spPr>
          <a:xfrm>
            <a:off x="457200" y="3474720"/>
            <a:ext cx="3566160" cy="109728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Reactive repair and fixed-schedule service both waste time or miss failures. Predictive maintenance targets the machines that need attention.</a:t>
            </a:r>
            <a:endParaRPr lang="en-US" sz="1400" dirty="0"/>
          </a:p>
        </p:txBody>
      </p:sp>
      <p:sp>
        <p:nvSpPr>
          <p:cNvPr id="6" name="card"/>
          <p:cNvSpPr/>
          <p:nvPr/>
        </p:nvSpPr>
        <p:spPr>
          <a:xfrm>
            <a:off x="4389120" y="1280160"/>
            <a:ext cx="2057400" cy="1600200"/>
          </a:xfrm>
          <a:prstGeom prst="roundRect">
            <a:avLst>
              <a:gd name="adj" fmla="val 4571"/>
            </a:avLst>
          </a:prstGeom>
          <a:solidFill>
            <a:schemeClr val="bg2"/>
          </a:solidFill>
          <a:ln w="12700">
            <a:solidFill>
              <a:schemeClr val="bg2"/>
            </a:solidFill>
            <a:prstDash val="solid"/>
          </a:ln>
        </p:spPr>
      </p:sp>
      <p:sp>
        <p:nvSpPr>
          <p:cNvPr id="7" name="icon-bg"/>
          <p:cNvSpPr/>
          <p:nvPr/>
        </p:nvSpPr>
        <p:spPr>
          <a:xfrm>
            <a:off x="4553712" y="1444752"/>
            <a:ext cx="457200" cy="457200"/>
          </a:xfrm>
          <a:prstGeom prst="ellipse">
            <a:avLst/>
          </a:prstGeom>
          <a:solidFill>
            <a:schemeClr val="accent1"/>
          </a:solidFill>
          <a:ln w="12700">
            <a:solidFill>
              <a:schemeClr val="accent1"/>
            </a:solidFill>
            <a:prstDash val="solid"/>
          </a:ln>
        </p:spPr>
      </p:sp>
      <p:pic>
        <p:nvPicPr>
          <p:cNvPr id="8" name="Image 0" descr="clock icon"/>
          <p:cNvPicPr>
            <a:picLocks noChangeAspect="1"/>
          </p:cNvPicPr>
          <p:nvPr/>
        </p:nvPicPr>
        <p:blipFill>
          <a:blip r:embed="rId3"/>
          <a:stretch>
            <a:fillRect/>
          </a:stretch>
        </p:blipFill>
        <p:spPr>
          <a:xfrm>
            <a:off x="4668012" y="1559052"/>
            <a:ext cx="228600" cy="228600"/>
          </a:xfrm>
          <a:prstGeom prst="rect">
            <a:avLst/>
          </a:prstGeom>
        </p:spPr>
      </p:pic>
      <p:sp>
        <p:nvSpPr>
          <p:cNvPr id="9" name="Text 6"/>
          <p:cNvSpPr txBox="1"/>
          <p:nvPr/>
        </p:nvSpPr>
        <p:spPr>
          <a:xfrm>
            <a:off x="4553712" y="2011680"/>
            <a:ext cx="173736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Production stops</a:t>
            </a:r>
            <a:endParaRPr lang="en-US" sz="1500" dirty="0"/>
          </a:p>
        </p:txBody>
      </p:sp>
      <p:sp>
        <p:nvSpPr>
          <p:cNvPr id="10" name="Text 7"/>
          <p:cNvSpPr txBox="1"/>
          <p:nvPr/>
        </p:nvSpPr>
        <p:spPr>
          <a:xfrm>
            <a:off x="4553712" y="2331720"/>
            <a:ext cx="173736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Line downtime and idle labour</a:t>
            </a:r>
            <a:endParaRPr lang="en-US" sz="1200" dirty="0"/>
          </a:p>
        </p:txBody>
      </p:sp>
      <p:sp>
        <p:nvSpPr>
          <p:cNvPr id="11" name="card"/>
          <p:cNvSpPr/>
          <p:nvPr/>
        </p:nvSpPr>
        <p:spPr>
          <a:xfrm>
            <a:off x="6583680" y="1280160"/>
            <a:ext cx="2057400" cy="1600200"/>
          </a:xfrm>
          <a:prstGeom prst="roundRect">
            <a:avLst>
              <a:gd name="adj" fmla="val 4571"/>
            </a:avLst>
          </a:prstGeom>
          <a:solidFill>
            <a:schemeClr val="bg2"/>
          </a:solidFill>
          <a:ln w="12700">
            <a:solidFill>
              <a:schemeClr val="bg2"/>
            </a:solidFill>
            <a:prstDash val="solid"/>
          </a:ln>
        </p:spPr>
      </p:sp>
      <p:sp>
        <p:nvSpPr>
          <p:cNvPr id="12" name="icon-bg"/>
          <p:cNvSpPr/>
          <p:nvPr/>
        </p:nvSpPr>
        <p:spPr>
          <a:xfrm>
            <a:off x="6748272" y="1444752"/>
            <a:ext cx="457200" cy="457200"/>
          </a:xfrm>
          <a:prstGeom prst="ellipse">
            <a:avLst/>
          </a:prstGeom>
          <a:solidFill>
            <a:schemeClr val="accent1"/>
          </a:solidFill>
          <a:ln w="12700">
            <a:solidFill>
              <a:schemeClr val="accent1"/>
            </a:solidFill>
            <a:prstDash val="solid"/>
          </a:ln>
        </p:spPr>
      </p:sp>
      <p:pic>
        <p:nvPicPr>
          <p:cNvPr id="13" name="Image 1" descr="tools icon"/>
          <p:cNvPicPr>
            <a:picLocks noChangeAspect="1"/>
          </p:cNvPicPr>
          <p:nvPr/>
        </p:nvPicPr>
        <p:blipFill>
          <a:blip r:embed="rId4"/>
          <a:stretch>
            <a:fillRect/>
          </a:stretch>
        </p:blipFill>
        <p:spPr>
          <a:xfrm>
            <a:off x="6862572" y="1559052"/>
            <a:ext cx="228600" cy="228600"/>
          </a:xfrm>
          <a:prstGeom prst="rect">
            <a:avLst/>
          </a:prstGeom>
        </p:spPr>
      </p:pic>
      <p:sp>
        <p:nvSpPr>
          <p:cNvPr id="14" name="Text 10"/>
          <p:cNvSpPr txBox="1"/>
          <p:nvPr/>
        </p:nvSpPr>
        <p:spPr>
          <a:xfrm>
            <a:off x="6748272" y="2011680"/>
            <a:ext cx="173736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Maintenance cost</a:t>
            </a:r>
            <a:endParaRPr lang="en-US" sz="1500" dirty="0"/>
          </a:p>
        </p:txBody>
      </p:sp>
      <p:sp>
        <p:nvSpPr>
          <p:cNvPr id="15" name="Text 11"/>
          <p:cNvSpPr txBox="1"/>
          <p:nvPr/>
        </p:nvSpPr>
        <p:spPr>
          <a:xfrm>
            <a:off x="6748272" y="2331720"/>
            <a:ext cx="173736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Emergency repairs, rushed parts</a:t>
            </a:r>
            <a:endParaRPr lang="en-US" sz="1200" dirty="0"/>
          </a:p>
        </p:txBody>
      </p:sp>
      <p:sp>
        <p:nvSpPr>
          <p:cNvPr id="16" name="card"/>
          <p:cNvSpPr/>
          <p:nvPr/>
        </p:nvSpPr>
        <p:spPr>
          <a:xfrm>
            <a:off x="4389120" y="3017520"/>
            <a:ext cx="2057400" cy="1600200"/>
          </a:xfrm>
          <a:prstGeom prst="roundRect">
            <a:avLst>
              <a:gd name="adj" fmla="val 4571"/>
            </a:avLst>
          </a:prstGeom>
          <a:solidFill>
            <a:schemeClr val="bg2"/>
          </a:solidFill>
          <a:ln w="12700">
            <a:solidFill>
              <a:schemeClr val="bg2"/>
            </a:solidFill>
            <a:prstDash val="solid"/>
          </a:ln>
        </p:spPr>
      </p:sp>
      <p:sp>
        <p:nvSpPr>
          <p:cNvPr id="17" name="icon-bg"/>
          <p:cNvSpPr/>
          <p:nvPr/>
        </p:nvSpPr>
        <p:spPr>
          <a:xfrm>
            <a:off x="4553712" y="3182112"/>
            <a:ext cx="457200" cy="457200"/>
          </a:xfrm>
          <a:prstGeom prst="ellipse">
            <a:avLst/>
          </a:prstGeom>
          <a:solidFill>
            <a:schemeClr val="accent1"/>
          </a:solidFill>
          <a:ln w="12700">
            <a:solidFill>
              <a:schemeClr val="accent1"/>
            </a:solidFill>
            <a:prstDash val="solid"/>
          </a:ln>
        </p:spPr>
      </p:sp>
      <p:pic>
        <p:nvPicPr>
          <p:cNvPr id="18" name="Image 2" descr="truck icon"/>
          <p:cNvPicPr>
            <a:picLocks noChangeAspect="1"/>
          </p:cNvPicPr>
          <p:nvPr/>
        </p:nvPicPr>
        <p:blipFill>
          <a:blip r:embed="rId5"/>
          <a:stretch>
            <a:fillRect/>
          </a:stretch>
        </p:blipFill>
        <p:spPr>
          <a:xfrm>
            <a:off x="4668012" y="3296412"/>
            <a:ext cx="228600" cy="228600"/>
          </a:xfrm>
          <a:prstGeom prst="rect">
            <a:avLst/>
          </a:prstGeom>
        </p:spPr>
      </p:pic>
      <p:sp>
        <p:nvSpPr>
          <p:cNvPr id="19" name="Text 14"/>
          <p:cNvSpPr txBox="1"/>
          <p:nvPr/>
        </p:nvSpPr>
        <p:spPr>
          <a:xfrm>
            <a:off x="4553712" y="3749040"/>
            <a:ext cx="173736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Delivery delays</a:t>
            </a:r>
            <a:endParaRPr lang="en-US" sz="1500" dirty="0"/>
          </a:p>
        </p:txBody>
      </p:sp>
      <p:sp>
        <p:nvSpPr>
          <p:cNvPr id="20" name="Text 15"/>
          <p:cNvSpPr txBox="1"/>
          <p:nvPr/>
        </p:nvSpPr>
        <p:spPr>
          <a:xfrm>
            <a:off x="4553712" y="4069080"/>
            <a:ext cx="173736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Missed customer commitments</a:t>
            </a:r>
            <a:endParaRPr lang="en-US" sz="1200" dirty="0"/>
          </a:p>
        </p:txBody>
      </p:sp>
      <p:sp>
        <p:nvSpPr>
          <p:cNvPr id="21" name="card"/>
          <p:cNvSpPr/>
          <p:nvPr/>
        </p:nvSpPr>
        <p:spPr>
          <a:xfrm>
            <a:off x="6583680" y="3017520"/>
            <a:ext cx="2057400" cy="1600200"/>
          </a:xfrm>
          <a:prstGeom prst="roundRect">
            <a:avLst>
              <a:gd name="adj" fmla="val 4571"/>
            </a:avLst>
          </a:prstGeom>
          <a:solidFill>
            <a:schemeClr val="bg2"/>
          </a:solidFill>
          <a:ln w="12700">
            <a:solidFill>
              <a:schemeClr val="bg2"/>
            </a:solidFill>
            <a:prstDash val="solid"/>
          </a:ln>
        </p:spPr>
      </p:sp>
      <p:sp>
        <p:nvSpPr>
          <p:cNvPr id="22" name="icon-bg"/>
          <p:cNvSpPr/>
          <p:nvPr/>
        </p:nvSpPr>
        <p:spPr>
          <a:xfrm>
            <a:off x="6748272" y="3182112"/>
            <a:ext cx="457200" cy="457200"/>
          </a:xfrm>
          <a:prstGeom prst="ellipse">
            <a:avLst/>
          </a:prstGeom>
          <a:solidFill>
            <a:schemeClr val="accent1"/>
          </a:solidFill>
          <a:ln w="12700">
            <a:solidFill>
              <a:schemeClr val="accent1"/>
            </a:solidFill>
            <a:prstDash val="solid"/>
          </a:ln>
        </p:spPr>
      </p:sp>
      <p:pic>
        <p:nvPicPr>
          <p:cNvPr id="23" name="Image 3" descr="gauge icon"/>
          <p:cNvPicPr>
            <a:picLocks noChangeAspect="1"/>
          </p:cNvPicPr>
          <p:nvPr/>
        </p:nvPicPr>
        <p:blipFill>
          <a:blip r:embed="rId6"/>
          <a:stretch>
            <a:fillRect/>
          </a:stretch>
        </p:blipFill>
        <p:spPr>
          <a:xfrm>
            <a:off x="6862572" y="3296412"/>
            <a:ext cx="228600" cy="228600"/>
          </a:xfrm>
          <a:prstGeom prst="rect">
            <a:avLst/>
          </a:prstGeom>
        </p:spPr>
      </p:pic>
      <p:sp>
        <p:nvSpPr>
          <p:cNvPr id="24" name="Text 18"/>
          <p:cNvSpPr txBox="1"/>
          <p:nvPr/>
        </p:nvSpPr>
        <p:spPr>
          <a:xfrm>
            <a:off x="6748272" y="3749040"/>
            <a:ext cx="173736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Lower OEE</a:t>
            </a:r>
            <a:endParaRPr lang="en-US" sz="1500" dirty="0"/>
          </a:p>
        </p:txBody>
      </p:sp>
      <p:sp>
        <p:nvSpPr>
          <p:cNvPr id="25" name="Text 19"/>
          <p:cNvSpPr txBox="1"/>
          <p:nvPr/>
        </p:nvSpPr>
        <p:spPr>
          <a:xfrm>
            <a:off x="6748272" y="4069080"/>
            <a:ext cx="173736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Availability and productivity drop</a:t>
            </a:r>
            <a:endParaRPr lang="en-US" sz="1200" dirty="0"/>
          </a:p>
        </p:txBody>
      </p:sp>
      <p:sp>
        <p:nvSpPr>
          <p:cNvPr id="26"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The data at a glance</a:t>
            </a:r>
            <a:endParaRPr lang="en-US" sz="3200" dirty="0"/>
          </a:p>
        </p:txBody>
      </p:sp>
      <p:sp>
        <p:nvSpPr>
          <p:cNvPr id="3" name="card"/>
          <p:cNvSpPr/>
          <p:nvPr/>
        </p:nvSpPr>
        <p:spPr>
          <a:xfrm>
            <a:off x="457200" y="1234440"/>
            <a:ext cx="1938528"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594360" y="1325880"/>
            <a:ext cx="1691640" cy="77724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10,000</a:t>
            </a:r>
            <a:endParaRPr lang="en-US" sz="4000" dirty="0"/>
          </a:p>
        </p:txBody>
      </p:sp>
      <p:sp>
        <p:nvSpPr>
          <p:cNvPr id="5" name="Text 3"/>
          <p:cNvSpPr txBox="1"/>
          <p:nvPr/>
        </p:nvSpPr>
        <p:spPr>
          <a:xfrm>
            <a:off x="594360" y="2103120"/>
            <a:ext cx="1691640" cy="41148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machine records</a:t>
            </a:r>
            <a:endParaRPr lang="en-US" sz="1400" dirty="0"/>
          </a:p>
        </p:txBody>
      </p:sp>
      <p:sp>
        <p:nvSpPr>
          <p:cNvPr id="6" name="card"/>
          <p:cNvSpPr/>
          <p:nvPr/>
        </p:nvSpPr>
        <p:spPr>
          <a:xfrm>
            <a:off x="2532888" y="1234440"/>
            <a:ext cx="1938528"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2670048" y="1325880"/>
            <a:ext cx="1691640" cy="77724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6</a:t>
            </a:r>
            <a:endParaRPr lang="en-US" sz="4000" dirty="0"/>
          </a:p>
        </p:txBody>
      </p:sp>
      <p:sp>
        <p:nvSpPr>
          <p:cNvPr id="8" name="Text 6"/>
          <p:cNvSpPr txBox="1"/>
          <p:nvPr/>
        </p:nvSpPr>
        <p:spPr>
          <a:xfrm>
            <a:off x="2670048" y="2103120"/>
            <a:ext cx="1691640" cy="41148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predictors</a:t>
            </a:r>
            <a:endParaRPr lang="en-US" sz="1400" dirty="0"/>
          </a:p>
        </p:txBody>
      </p:sp>
      <p:sp>
        <p:nvSpPr>
          <p:cNvPr id="9" name="card"/>
          <p:cNvSpPr/>
          <p:nvPr/>
        </p:nvSpPr>
        <p:spPr>
          <a:xfrm>
            <a:off x="4608576" y="1234440"/>
            <a:ext cx="1938528"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4745736" y="1325880"/>
            <a:ext cx="1691640" cy="77724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339</a:t>
            </a:r>
            <a:endParaRPr lang="en-US" sz="4000" dirty="0"/>
          </a:p>
        </p:txBody>
      </p:sp>
      <p:sp>
        <p:nvSpPr>
          <p:cNvPr id="11" name="Text 9"/>
          <p:cNvSpPr txBox="1"/>
          <p:nvPr/>
        </p:nvSpPr>
        <p:spPr>
          <a:xfrm>
            <a:off x="4745736" y="2103120"/>
            <a:ext cx="1691640" cy="41148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failures (3.39%)</a:t>
            </a:r>
            <a:endParaRPr lang="en-US" sz="1400" dirty="0"/>
          </a:p>
        </p:txBody>
      </p:sp>
      <p:sp>
        <p:nvSpPr>
          <p:cNvPr id="12" name="card"/>
          <p:cNvSpPr/>
          <p:nvPr/>
        </p:nvSpPr>
        <p:spPr>
          <a:xfrm>
            <a:off x="6684264" y="1234440"/>
            <a:ext cx="1938528" cy="1417320"/>
          </a:xfrm>
          <a:prstGeom prst="roundRect">
            <a:avLst>
              <a:gd name="adj" fmla="val 5161"/>
            </a:avLst>
          </a:prstGeom>
          <a:solidFill>
            <a:schemeClr val="bg2"/>
          </a:solidFill>
          <a:ln w="12700">
            <a:solidFill>
              <a:schemeClr val="bg2"/>
            </a:solidFill>
            <a:prstDash val="solid"/>
          </a:ln>
        </p:spPr>
      </p:sp>
      <p:sp>
        <p:nvSpPr>
          <p:cNvPr id="13" name="Text 11"/>
          <p:cNvSpPr txBox="1"/>
          <p:nvPr/>
        </p:nvSpPr>
        <p:spPr>
          <a:xfrm>
            <a:off x="6821424" y="1325880"/>
            <a:ext cx="1691640" cy="77724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5</a:t>
            </a:r>
            <a:endParaRPr lang="en-US" sz="4000" dirty="0"/>
          </a:p>
        </p:txBody>
      </p:sp>
      <p:sp>
        <p:nvSpPr>
          <p:cNvPr id="14" name="Text 12"/>
          <p:cNvSpPr txBox="1"/>
          <p:nvPr/>
        </p:nvSpPr>
        <p:spPr>
          <a:xfrm>
            <a:off x="6821424" y="2103120"/>
            <a:ext cx="1691640" cy="41148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failure modes</a:t>
            </a:r>
            <a:endParaRPr lang="en-US" sz="1400" dirty="0"/>
          </a:p>
        </p:txBody>
      </p:sp>
      <p:sp>
        <p:nvSpPr>
          <p:cNvPr id="15" name="Text 13"/>
          <p:cNvSpPr txBox="1"/>
          <p:nvPr/>
        </p:nvSpPr>
        <p:spPr>
          <a:xfrm>
            <a:off x="457200" y="2926080"/>
            <a:ext cx="365760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Predictors used</a:t>
            </a:r>
            <a:endParaRPr lang="en-US" sz="1400" dirty="0"/>
          </a:p>
        </p:txBody>
      </p:sp>
      <p:sp>
        <p:nvSpPr>
          <p:cNvPr id="16" name="chip"/>
          <p:cNvSpPr/>
          <p:nvPr/>
        </p:nvSpPr>
        <p:spPr>
          <a:xfrm>
            <a:off x="457200" y="3291840"/>
            <a:ext cx="1280160" cy="457200"/>
          </a:xfrm>
          <a:prstGeom prst="roundRect">
            <a:avLst>
              <a:gd name="adj" fmla="val 50000"/>
            </a:avLst>
          </a:prstGeom>
          <a:solidFill>
            <a:schemeClr val="bg2"/>
          </a:solidFill>
          <a:ln w="12700">
            <a:solidFill>
              <a:schemeClr val="accent6"/>
            </a:solidFill>
            <a:prstDash val="solid"/>
          </a:ln>
        </p:spPr>
      </p:sp>
      <p:sp>
        <p:nvSpPr>
          <p:cNvPr id="17" name="Text 15"/>
          <p:cNvSpPr txBox="1"/>
          <p:nvPr/>
        </p:nvSpPr>
        <p:spPr>
          <a:xfrm>
            <a:off x="457200" y="329184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latin typeface="+mn-lt" pitchFamily="34" charset="0"/>
                <a:ea typeface="+mn-lt" pitchFamily="34" charset="-122"/>
                <a:cs typeface="+mn-lt" pitchFamily="34" charset="-120"/>
              </a:rPr>
              <a:t>Product type</a:t>
            </a:r>
            <a:endParaRPr lang="en-US" sz="1200" dirty="0"/>
          </a:p>
        </p:txBody>
      </p:sp>
      <p:sp>
        <p:nvSpPr>
          <p:cNvPr id="18" name="chip"/>
          <p:cNvSpPr/>
          <p:nvPr/>
        </p:nvSpPr>
        <p:spPr>
          <a:xfrm>
            <a:off x="1828800" y="3291840"/>
            <a:ext cx="1280160" cy="457200"/>
          </a:xfrm>
          <a:prstGeom prst="roundRect">
            <a:avLst>
              <a:gd name="adj" fmla="val 50000"/>
            </a:avLst>
          </a:prstGeom>
          <a:solidFill>
            <a:schemeClr val="bg2"/>
          </a:solidFill>
          <a:ln w="12700">
            <a:solidFill>
              <a:schemeClr val="accent6"/>
            </a:solidFill>
            <a:prstDash val="solid"/>
          </a:ln>
        </p:spPr>
      </p:sp>
      <p:sp>
        <p:nvSpPr>
          <p:cNvPr id="19" name="Text 17"/>
          <p:cNvSpPr txBox="1"/>
          <p:nvPr/>
        </p:nvSpPr>
        <p:spPr>
          <a:xfrm>
            <a:off x="1828800" y="329184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latin typeface="+mn-lt" pitchFamily="34" charset="0"/>
                <a:ea typeface="+mn-lt" pitchFamily="34" charset="-122"/>
                <a:cs typeface="+mn-lt" pitchFamily="34" charset="-120"/>
              </a:rPr>
              <a:t>Air temp</a:t>
            </a:r>
            <a:endParaRPr lang="en-US" sz="1200" dirty="0"/>
          </a:p>
        </p:txBody>
      </p:sp>
      <p:sp>
        <p:nvSpPr>
          <p:cNvPr id="20" name="chip"/>
          <p:cNvSpPr/>
          <p:nvPr/>
        </p:nvSpPr>
        <p:spPr>
          <a:xfrm>
            <a:off x="3200400" y="3291840"/>
            <a:ext cx="1280160" cy="457200"/>
          </a:xfrm>
          <a:prstGeom prst="roundRect">
            <a:avLst>
              <a:gd name="adj" fmla="val 50000"/>
            </a:avLst>
          </a:prstGeom>
          <a:solidFill>
            <a:schemeClr val="bg2"/>
          </a:solidFill>
          <a:ln w="12700">
            <a:solidFill>
              <a:schemeClr val="accent6"/>
            </a:solidFill>
            <a:prstDash val="solid"/>
          </a:ln>
        </p:spPr>
      </p:sp>
      <p:sp>
        <p:nvSpPr>
          <p:cNvPr id="21" name="Text 19"/>
          <p:cNvSpPr txBox="1"/>
          <p:nvPr/>
        </p:nvSpPr>
        <p:spPr>
          <a:xfrm>
            <a:off x="3200400" y="329184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latin typeface="+mn-lt" pitchFamily="34" charset="0"/>
                <a:ea typeface="+mn-lt" pitchFamily="34" charset="-122"/>
                <a:cs typeface="+mn-lt" pitchFamily="34" charset="-120"/>
              </a:rPr>
              <a:t>Process temp</a:t>
            </a:r>
            <a:endParaRPr lang="en-US" sz="1200" dirty="0"/>
          </a:p>
        </p:txBody>
      </p:sp>
      <p:sp>
        <p:nvSpPr>
          <p:cNvPr id="22" name="chip"/>
          <p:cNvSpPr/>
          <p:nvPr/>
        </p:nvSpPr>
        <p:spPr>
          <a:xfrm>
            <a:off x="4572000" y="3291840"/>
            <a:ext cx="1280160" cy="457200"/>
          </a:xfrm>
          <a:prstGeom prst="roundRect">
            <a:avLst>
              <a:gd name="adj" fmla="val 50000"/>
            </a:avLst>
          </a:prstGeom>
          <a:solidFill>
            <a:schemeClr val="bg2"/>
          </a:solidFill>
          <a:ln w="12700">
            <a:solidFill>
              <a:schemeClr val="accent6"/>
            </a:solidFill>
            <a:prstDash val="solid"/>
          </a:ln>
        </p:spPr>
      </p:sp>
      <p:sp>
        <p:nvSpPr>
          <p:cNvPr id="23" name="Text 21"/>
          <p:cNvSpPr txBox="1"/>
          <p:nvPr/>
        </p:nvSpPr>
        <p:spPr>
          <a:xfrm>
            <a:off x="4572000" y="3291840"/>
            <a:ext cx="1280160" cy="457200"/>
          </a:xfrm>
          <a:prstGeom prst="rect">
            <a:avLst/>
          </a:prstGeom>
          <a:noFill/>
          <a:ln/>
        </p:spPr>
        <p:txBody>
          <a:bodyPr wrap="square" lIns="0" tIns="0" rIns="0" bIns="0" rtlCol="0" anchor="ctr"/>
          <a:lstStyle/>
          <a:p>
            <a:pPr marL="0" indent="0" algn="ctr">
              <a:buNone/>
            </a:pPr>
            <a:r>
              <a:rPr lang="en-US" sz="1200" dirty="0">
                <a:solidFill>
                  <a:schemeClr val="tx1"/>
                </a:solidFill>
                <a:latin typeface="+mn-lt" pitchFamily="34" charset="0"/>
                <a:ea typeface="+mn-lt" pitchFamily="34" charset="-122"/>
                <a:cs typeface="+mn-lt" pitchFamily="34" charset="-120"/>
              </a:rPr>
              <a:t>Rotational speed</a:t>
            </a:r>
            <a:endParaRPr lang="en-US" sz="1200" dirty="0"/>
          </a:p>
        </p:txBody>
      </p:sp>
      <p:sp>
        <p:nvSpPr>
          <p:cNvPr id="24" name="chip"/>
          <p:cNvSpPr/>
          <p:nvPr/>
        </p:nvSpPr>
        <p:spPr>
          <a:xfrm>
            <a:off x="5943600" y="3291840"/>
            <a:ext cx="1280160" cy="457200"/>
          </a:xfrm>
          <a:prstGeom prst="roundRect">
            <a:avLst>
              <a:gd name="adj" fmla="val 50000"/>
            </a:avLst>
          </a:prstGeom>
          <a:solidFill>
            <a:schemeClr val="accent4"/>
          </a:solidFill>
          <a:ln w="12700">
            <a:solidFill>
              <a:schemeClr val="accent1"/>
            </a:solidFill>
            <a:prstDash val="solid"/>
          </a:ln>
        </p:spPr>
      </p:sp>
      <p:sp>
        <p:nvSpPr>
          <p:cNvPr id="25" name="Text 23"/>
          <p:cNvSpPr txBox="1"/>
          <p:nvPr/>
        </p:nvSpPr>
        <p:spPr>
          <a:xfrm>
            <a:off x="5943600" y="3291840"/>
            <a:ext cx="1280160" cy="457200"/>
          </a:xfrm>
          <a:prstGeom prst="rect">
            <a:avLst/>
          </a:prstGeom>
          <a:noFill/>
          <a:ln/>
        </p:spPr>
        <p:txBody>
          <a:bodyPr wrap="square" lIns="0" tIns="0" rIns="0" bIns="0" rtlCol="0" anchor="ctr"/>
          <a:lstStyle/>
          <a:p>
            <a:pPr marL="0" indent="0" algn="ctr">
              <a:buNone/>
            </a:pPr>
            <a:r>
              <a:rPr lang="en-US" sz="1200" b="1" dirty="0">
                <a:solidFill>
                  <a:schemeClr val="tx1"/>
                </a:solidFill>
                <a:latin typeface="+mn-lt" pitchFamily="34" charset="0"/>
                <a:ea typeface="+mn-lt" pitchFamily="34" charset="-122"/>
                <a:cs typeface="+mn-lt" pitchFamily="34" charset="-120"/>
              </a:rPr>
              <a:t>Torque</a:t>
            </a:r>
            <a:endParaRPr lang="en-US" sz="1200" dirty="0"/>
          </a:p>
        </p:txBody>
      </p:sp>
      <p:sp>
        <p:nvSpPr>
          <p:cNvPr id="26" name="chip"/>
          <p:cNvSpPr/>
          <p:nvPr/>
        </p:nvSpPr>
        <p:spPr>
          <a:xfrm>
            <a:off x="7315200" y="3291840"/>
            <a:ext cx="1280160" cy="457200"/>
          </a:xfrm>
          <a:prstGeom prst="roundRect">
            <a:avLst>
              <a:gd name="adj" fmla="val 50000"/>
            </a:avLst>
          </a:prstGeom>
          <a:solidFill>
            <a:schemeClr val="accent4"/>
          </a:solidFill>
          <a:ln w="12700">
            <a:solidFill>
              <a:schemeClr val="accent1"/>
            </a:solidFill>
            <a:prstDash val="solid"/>
          </a:ln>
        </p:spPr>
      </p:sp>
      <p:sp>
        <p:nvSpPr>
          <p:cNvPr id="27" name="Text 25"/>
          <p:cNvSpPr txBox="1"/>
          <p:nvPr/>
        </p:nvSpPr>
        <p:spPr>
          <a:xfrm>
            <a:off x="7315200" y="3291840"/>
            <a:ext cx="1280160" cy="457200"/>
          </a:xfrm>
          <a:prstGeom prst="rect">
            <a:avLst/>
          </a:prstGeom>
          <a:noFill/>
          <a:ln/>
        </p:spPr>
        <p:txBody>
          <a:bodyPr wrap="square" lIns="0" tIns="0" rIns="0" bIns="0" rtlCol="0" anchor="ctr"/>
          <a:lstStyle/>
          <a:p>
            <a:pPr marL="0" indent="0" algn="ctr">
              <a:buNone/>
            </a:pPr>
            <a:r>
              <a:rPr lang="en-US" sz="1200" b="1" dirty="0">
                <a:solidFill>
                  <a:schemeClr val="tx1"/>
                </a:solidFill>
                <a:latin typeface="+mn-lt" pitchFamily="34" charset="0"/>
                <a:ea typeface="+mn-lt" pitchFamily="34" charset="-122"/>
                <a:cs typeface="+mn-lt" pitchFamily="34" charset="-120"/>
              </a:rPr>
              <a:t>Tool wear</a:t>
            </a:r>
            <a:endParaRPr lang="en-US" sz="1200" dirty="0"/>
          </a:p>
        </p:txBody>
      </p:sp>
      <p:sp>
        <p:nvSpPr>
          <p:cNvPr id="28" name="Text 26"/>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400" dirty="0">
                <a:solidFill>
                  <a:schemeClr val="accent3"/>
                </a:solidFill>
                <a:latin typeface="+mn-lt" pitchFamily="34" charset="0"/>
                <a:ea typeface="+mn-lt" pitchFamily="34" charset="-122"/>
                <a:cs typeface="+mn-lt" pitchFamily="34" charset="-120"/>
              </a:rPr>
              <a:t>AI4I 2020 dataset (Matzka, 2020): synthetic, modelled on a real milling machine. No missing values, no duplicates.</a:t>
            </a:r>
            <a:endParaRPr lang="en-US" sz="1400" dirty="0"/>
          </a:p>
        </p:txBody>
      </p:sp>
      <p:sp>
        <p:nvSpPr>
          <p:cNvPr id="29"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Our approach</a:t>
            </a:r>
            <a:endParaRPr lang="en-US" sz="3200" dirty="0"/>
          </a:p>
        </p:txBody>
      </p:sp>
      <p:sp>
        <p:nvSpPr>
          <p:cNvPr id="3" name="card"/>
          <p:cNvSpPr/>
          <p:nvPr/>
        </p:nvSpPr>
        <p:spPr>
          <a:xfrm>
            <a:off x="457200" y="1280160"/>
            <a:ext cx="2606040" cy="1508760"/>
          </a:xfrm>
          <a:prstGeom prst="roundRect">
            <a:avLst>
              <a:gd name="adj" fmla="val 4848"/>
            </a:avLst>
          </a:prstGeom>
          <a:solidFill>
            <a:schemeClr val="bg2"/>
          </a:solidFill>
          <a:ln w="12700">
            <a:solidFill>
              <a:schemeClr val="bg2"/>
            </a:solidFill>
            <a:prstDash val="solid"/>
          </a:ln>
        </p:spPr>
      </p:sp>
      <p:sp>
        <p:nvSpPr>
          <p:cNvPr id="4" name="icon-bg"/>
          <p:cNvSpPr/>
          <p:nvPr/>
        </p:nvSpPr>
        <p:spPr>
          <a:xfrm>
            <a:off x="640080" y="1463040"/>
            <a:ext cx="502920" cy="502920"/>
          </a:xfrm>
          <a:prstGeom prst="ellipse">
            <a:avLst/>
          </a:prstGeom>
          <a:solidFill>
            <a:schemeClr val="accent1"/>
          </a:solidFill>
          <a:ln w="12700">
            <a:solidFill>
              <a:schemeClr val="accent1"/>
            </a:solidFill>
            <a:prstDash val="solid"/>
          </a:ln>
        </p:spPr>
      </p:sp>
      <p:pic>
        <p:nvPicPr>
          <p:cNvPr id="5" name="Image 0" descr="db icon"/>
          <p:cNvPicPr>
            <a:picLocks noChangeAspect="1"/>
          </p:cNvPicPr>
          <p:nvPr/>
        </p:nvPicPr>
        <p:blipFill>
          <a:blip r:embed="rId3"/>
          <a:stretch>
            <a:fillRect/>
          </a:stretch>
        </p:blipFill>
        <p:spPr>
          <a:xfrm>
            <a:off x="765810" y="1588770"/>
            <a:ext cx="251460" cy="251460"/>
          </a:xfrm>
          <a:prstGeom prst="rect">
            <a:avLst/>
          </a:prstGeom>
        </p:spPr>
      </p:pic>
      <p:sp>
        <p:nvSpPr>
          <p:cNvPr id="6" name="Text 3"/>
          <p:cNvSpPr txBox="1"/>
          <p:nvPr/>
        </p:nvSpPr>
        <p:spPr>
          <a:xfrm>
            <a:off x="1325880" y="148132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1  Understand</a:t>
            </a:r>
            <a:endParaRPr lang="en-US" sz="1600" dirty="0"/>
          </a:p>
        </p:txBody>
      </p:sp>
      <p:sp>
        <p:nvSpPr>
          <p:cNvPr id="7" name="Text 4"/>
          <p:cNvSpPr txBox="1"/>
          <p:nvPr/>
        </p:nvSpPr>
        <p:spPr>
          <a:xfrm>
            <a:off x="640080" y="214884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Quality checks, target balance</a:t>
            </a:r>
            <a:endParaRPr lang="en-US" sz="1400" dirty="0"/>
          </a:p>
        </p:txBody>
      </p:sp>
      <p:sp>
        <p:nvSpPr>
          <p:cNvPr id="8" name="card"/>
          <p:cNvSpPr/>
          <p:nvPr/>
        </p:nvSpPr>
        <p:spPr>
          <a:xfrm>
            <a:off x="3246120" y="1280160"/>
            <a:ext cx="2606040" cy="1508760"/>
          </a:xfrm>
          <a:prstGeom prst="roundRect">
            <a:avLst>
              <a:gd name="adj" fmla="val 4848"/>
            </a:avLst>
          </a:prstGeom>
          <a:solidFill>
            <a:schemeClr val="bg2"/>
          </a:solidFill>
          <a:ln w="12700">
            <a:solidFill>
              <a:schemeClr val="bg2"/>
            </a:solidFill>
            <a:prstDash val="solid"/>
          </a:ln>
        </p:spPr>
      </p:sp>
      <p:sp>
        <p:nvSpPr>
          <p:cNvPr id="9" name="icon-bg"/>
          <p:cNvSpPr/>
          <p:nvPr/>
        </p:nvSpPr>
        <p:spPr>
          <a:xfrm>
            <a:off x="3429000" y="1463040"/>
            <a:ext cx="502920" cy="502920"/>
          </a:xfrm>
          <a:prstGeom prst="ellipse">
            <a:avLst/>
          </a:prstGeom>
          <a:solidFill>
            <a:schemeClr val="accent1"/>
          </a:solidFill>
          <a:ln w="12700">
            <a:solidFill>
              <a:schemeClr val="accent1"/>
            </a:solidFill>
            <a:prstDash val="solid"/>
          </a:ln>
        </p:spPr>
      </p:sp>
      <p:pic>
        <p:nvPicPr>
          <p:cNvPr id="10" name="Image 1" descr="search icon"/>
          <p:cNvPicPr>
            <a:picLocks noChangeAspect="1"/>
          </p:cNvPicPr>
          <p:nvPr/>
        </p:nvPicPr>
        <p:blipFill>
          <a:blip r:embed="rId4"/>
          <a:stretch>
            <a:fillRect/>
          </a:stretch>
        </p:blipFill>
        <p:spPr>
          <a:xfrm>
            <a:off x="3554730" y="1588770"/>
            <a:ext cx="251460" cy="251460"/>
          </a:xfrm>
          <a:prstGeom prst="rect">
            <a:avLst/>
          </a:prstGeom>
        </p:spPr>
      </p:pic>
      <p:sp>
        <p:nvSpPr>
          <p:cNvPr id="11" name="Text 7"/>
          <p:cNvSpPr txBox="1"/>
          <p:nvPr/>
        </p:nvSpPr>
        <p:spPr>
          <a:xfrm>
            <a:off x="4114800" y="148132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2  Explore</a:t>
            </a:r>
            <a:endParaRPr lang="en-US" sz="1600" dirty="0"/>
          </a:p>
        </p:txBody>
      </p:sp>
      <p:sp>
        <p:nvSpPr>
          <p:cNvPr id="12" name="Text 8"/>
          <p:cNvSpPr txBox="1"/>
          <p:nvPr/>
        </p:nvSpPr>
        <p:spPr>
          <a:xfrm>
            <a:off x="3429000" y="214884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EDA, bivariate, correlation</a:t>
            </a:r>
            <a:endParaRPr lang="en-US" sz="1400" dirty="0"/>
          </a:p>
        </p:txBody>
      </p:sp>
      <p:sp>
        <p:nvSpPr>
          <p:cNvPr id="13" name="card"/>
          <p:cNvSpPr/>
          <p:nvPr/>
        </p:nvSpPr>
        <p:spPr>
          <a:xfrm>
            <a:off x="6035040" y="1280160"/>
            <a:ext cx="2606040" cy="1508760"/>
          </a:xfrm>
          <a:prstGeom prst="roundRect">
            <a:avLst>
              <a:gd name="adj" fmla="val 4848"/>
            </a:avLst>
          </a:prstGeom>
          <a:solidFill>
            <a:schemeClr val="bg2"/>
          </a:solidFill>
          <a:ln w="12700">
            <a:solidFill>
              <a:schemeClr val="bg2"/>
            </a:solidFill>
            <a:prstDash val="solid"/>
          </a:ln>
        </p:spPr>
      </p:sp>
      <p:sp>
        <p:nvSpPr>
          <p:cNvPr id="14" name="icon-bg"/>
          <p:cNvSpPr/>
          <p:nvPr/>
        </p:nvSpPr>
        <p:spPr>
          <a:xfrm>
            <a:off x="6217920" y="1463040"/>
            <a:ext cx="502920" cy="502920"/>
          </a:xfrm>
          <a:prstGeom prst="ellipse">
            <a:avLst/>
          </a:prstGeom>
          <a:solidFill>
            <a:schemeClr val="accent1"/>
          </a:solidFill>
          <a:ln w="12700">
            <a:solidFill>
              <a:schemeClr val="accent1"/>
            </a:solidFill>
            <a:prstDash val="solid"/>
          </a:ln>
        </p:spPr>
      </p:sp>
      <p:pic>
        <p:nvPicPr>
          <p:cNvPr id="15" name="Image 2" descr="cogs icon"/>
          <p:cNvPicPr>
            <a:picLocks noChangeAspect="1"/>
          </p:cNvPicPr>
          <p:nvPr/>
        </p:nvPicPr>
        <p:blipFill>
          <a:blip r:embed="rId5"/>
          <a:stretch>
            <a:fillRect/>
          </a:stretch>
        </p:blipFill>
        <p:spPr>
          <a:xfrm>
            <a:off x="6343650" y="1588770"/>
            <a:ext cx="251460" cy="251460"/>
          </a:xfrm>
          <a:prstGeom prst="rect">
            <a:avLst/>
          </a:prstGeom>
        </p:spPr>
      </p:pic>
      <p:sp>
        <p:nvSpPr>
          <p:cNvPr id="16" name="Text 11"/>
          <p:cNvSpPr txBox="1"/>
          <p:nvPr/>
        </p:nvSpPr>
        <p:spPr>
          <a:xfrm>
            <a:off x="6903720" y="148132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3  Prepare</a:t>
            </a:r>
            <a:endParaRPr lang="en-US" sz="1600" dirty="0"/>
          </a:p>
        </p:txBody>
      </p:sp>
      <p:sp>
        <p:nvSpPr>
          <p:cNvPr id="17" name="Text 12"/>
          <p:cNvSpPr txBox="1"/>
          <p:nvPr/>
        </p:nvSpPr>
        <p:spPr>
          <a:xfrm>
            <a:off x="6217920" y="214884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Encode, 80/20 split, scale</a:t>
            </a:r>
            <a:endParaRPr lang="en-US" sz="1400" dirty="0"/>
          </a:p>
        </p:txBody>
      </p:sp>
      <p:sp>
        <p:nvSpPr>
          <p:cNvPr id="18" name="card"/>
          <p:cNvSpPr/>
          <p:nvPr/>
        </p:nvSpPr>
        <p:spPr>
          <a:xfrm>
            <a:off x="457200" y="2971800"/>
            <a:ext cx="2606040" cy="1508760"/>
          </a:xfrm>
          <a:prstGeom prst="roundRect">
            <a:avLst>
              <a:gd name="adj" fmla="val 4848"/>
            </a:avLst>
          </a:prstGeom>
          <a:solidFill>
            <a:schemeClr val="bg2"/>
          </a:solidFill>
          <a:ln w="12700">
            <a:solidFill>
              <a:schemeClr val="bg2"/>
            </a:solidFill>
            <a:prstDash val="solid"/>
          </a:ln>
        </p:spPr>
      </p:sp>
      <p:sp>
        <p:nvSpPr>
          <p:cNvPr id="19" name="icon-bg"/>
          <p:cNvSpPr/>
          <p:nvPr/>
        </p:nvSpPr>
        <p:spPr>
          <a:xfrm>
            <a:off x="640080" y="3154680"/>
            <a:ext cx="502920" cy="502920"/>
          </a:xfrm>
          <a:prstGeom prst="ellipse">
            <a:avLst/>
          </a:prstGeom>
          <a:solidFill>
            <a:schemeClr val="accent1"/>
          </a:solidFill>
          <a:ln w="12700">
            <a:solidFill>
              <a:schemeClr val="accent1"/>
            </a:solidFill>
            <a:prstDash val="solid"/>
          </a:ln>
        </p:spPr>
      </p:sp>
      <p:pic>
        <p:nvPicPr>
          <p:cNvPr id="20" name="Image 3" descr="brain icon"/>
          <p:cNvPicPr>
            <a:picLocks noChangeAspect="1"/>
          </p:cNvPicPr>
          <p:nvPr/>
        </p:nvPicPr>
        <p:blipFill>
          <a:blip r:embed="rId6"/>
          <a:stretch>
            <a:fillRect/>
          </a:stretch>
        </p:blipFill>
        <p:spPr>
          <a:xfrm>
            <a:off x="765810" y="3280410"/>
            <a:ext cx="251460" cy="251460"/>
          </a:xfrm>
          <a:prstGeom prst="rect">
            <a:avLst/>
          </a:prstGeom>
        </p:spPr>
      </p:pic>
      <p:sp>
        <p:nvSpPr>
          <p:cNvPr id="21" name="Text 15"/>
          <p:cNvSpPr txBox="1"/>
          <p:nvPr/>
        </p:nvSpPr>
        <p:spPr>
          <a:xfrm>
            <a:off x="1325880" y="317296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4  Model</a:t>
            </a:r>
            <a:endParaRPr lang="en-US" sz="1600" dirty="0"/>
          </a:p>
        </p:txBody>
      </p:sp>
      <p:sp>
        <p:nvSpPr>
          <p:cNvPr id="22" name="Text 16"/>
          <p:cNvSpPr txBox="1"/>
          <p:nvPr/>
        </p:nvSpPr>
        <p:spPr>
          <a:xfrm>
            <a:off x="640080" y="384048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Six classifiers, grid-search tuning</a:t>
            </a:r>
            <a:endParaRPr lang="en-US" sz="1400" dirty="0"/>
          </a:p>
        </p:txBody>
      </p:sp>
      <p:sp>
        <p:nvSpPr>
          <p:cNvPr id="23" name="card"/>
          <p:cNvSpPr/>
          <p:nvPr/>
        </p:nvSpPr>
        <p:spPr>
          <a:xfrm>
            <a:off x="3246120" y="2971800"/>
            <a:ext cx="2606040" cy="1508760"/>
          </a:xfrm>
          <a:prstGeom prst="roundRect">
            <a:avLst>
              <a:gd name="adj" fmla="val 4848"/>
            </a:avLst>
          </a:prstGeom>
          <a:solidFill>
            <a:schemeClr val="bg2"/>
          </a:solidFill>
          <a:ln w="12700">
            <a:solidFill>
              <a:schemeClr val="bg2"/>
            </a:solidFill>
            <a:prstDash val="solid"/>
          </a:ln>
        </p:spPr>
      </p:sp>
      <p:sp>
        <p:nvSpPr>
          <p:cNvPr id="24" name="icon-bg"/>
          <p:cNvSpPr/>
          <p:nvPr/>
        </p:nvSpPr>
        <p:spPr>
          <a:xfrm>
            <a:off x="3429000" y="3154680"/>
            <a:ext cx="502920" cy="502920"/>
          </a:xfrm>
          <a:prstGeom prst="ellipse">
            <a:avLst/>
          </a:prstGeom>
          <a:solidFill>
            <a:schemeClr val="accent1"/>
          </a:solidFill>
          <a:ln w="12700">
            <a:solidFill>
              <a:schemeClr val="accent1"/>
            </a:solidFill>
            <a:prstDash val="solid"/>
          </a:ln>
        </p:spPr>
      </p:sp>
      <p:pic>
        <p:nvPicPr>
          <p:cNvPr id="25" name="Image 4" descr="check icon"/>
          <p:cNvPicPr>
            <a:picLocks noChangeAspect="1"/>
          </p:cNvPicPr>
          <p:nvPr/>
        </p:nvPicPr>
        <p:blipFill>
          <a:blip r:embed="rId7"/>
          <a:stretch>
            <a:fillRect/>
          </a:stretch>
        </p:blipFill>
        <p:spPr>
          <a:xfrm>
            <a:off x="3554730" y="3280410"/>
            <a:ext cx="251460" cy="251460"/>
          </a:xfrm>
          <a:prstGeom prst="rect">
            <a:avLst/>
          </a:prstGeom>
        </p:spPr>
      </p:pic>
      <p:sp>
        <p:nvSpPr>
          <p:cNvPr id="26" name="Text 19"/>
          <p:cNvSpPr txBox="1"/>
          <p:nvPr/>
        </p:nvSpPr>
        <p:spPr>
          <a:xfrm>
            <a:off x="4114800" y="317296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5  Evaluate</a:t>
            </a:r>
            <a:endParaRPr lang="en-US" sz="1600" dirty="0"/>
          </a:p>
        </p:txBody>
      </p:sp>
      <p:sp>
        <p:nvSpPr>
          <p:cNvPr id="27" name="Text 20"/>
          <p:cNvSpPr txBox="1"/>
          <p:nvPr/>
        </p:nvSpPr>
        <p:spPr>
          <a:xfrm>
            <a:off x="3429000" y="384048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Precision, recall, F1, ROC</a:t>
            </a:r>
            <a:endParaRPr lang="en-US" sz="1400" dirty="0"/>
          </a:p>
        </p:txBody>
      </p:sp>
      <p:sp>
        <p:nvSpPr>
          <p:cNvPr id="28" name="card"/>
          <p:cNvSpPr/>
          <p:nvPr/>
        </p:nvSpPr>
        <p:spPr>
          <a:xfrm>
            <a:off x="6035040" y="2971800"/>
            <a:ext cx="2606040" cy="1508760"/>
          </a:xfrm>
          <a:prstGeom prst="roundRect">
            <a:avLst>
              <a:gd name="adj" fmla="val 4848"/>
            </a:avLst>
          </a:prstGeom>
          <a:solidFill>
            <a:schemeClr val="bg2"/>
          </a:solidFill>
          <a:ln w="12700">
            <a:solidFill>
              <a:schemeClr val="bg2"/>
            </a:solidFill>
            <a:prstDash val="solid"/>
          </a:ln>
        </p:spPr>
      </p:sp>
      <p:sp>
        <p:nvSpPr>
          <p:cNvPr id="29" name="icon-bg"/>
          <p:cNvSpPr/>
          <p:nvPr/>
        </p:nvSpPr>
        <p:spPr>
          <a:xfrm>
            <a:off x="6217920" y="3154680"/>
            <a:ext cx="502920" cy="502920"/>
          </a:xfrm>
          <a:prstGeom prst="ellipse">
            <a:avLst/>
          </a:prstGeom>
          <a:solidFill>
            <a:schemeClr val="accent1"/>
          </a:solidFill>
          <a:ln w="12700">
            <a:solidFill>
              <a:schemeClr val="accent1"/>
            </a:solidFill>
            <a:prstDash val="solid"/>
          </a:ln>
        </p:spPr>
      </p:sp>
      <p:pic>
        <p:nvPicPr>
          <p:cNvPr id="30" name="Image 5" descr="bell icon"/>
          <p:cNvPicPr>
            <a:picLocks noChangeAspect="1"/>
          </p:cNvPicPr>
          <p:nvPr/>
        </p:nvPicPr>
        <p:blipFill>
          <a:blip r:embed="rId8"/>
          <a:stretch>
            <a:fillRect/>
          </a:stretch>
        </p:blipFill>
        <p:spPr>
          <a:xfrm>
            <a:off x="6343650" y="3280410"/>
            <a:ext cx="251460" cy="251460"/>
          </a:xfrm>
          <a:prstGeom prst="rect">
            <a:avLst/>
          </a:prstGeom>
        </p:spPr>
      </p:pic>
      <p:sp>
        <p:nvSpPr>
          <p:cNvPr id="31" name="Text 23"/>
          <p:cNvSpPr txBox="1"/>
          <p:nvPr/>
        </p:nvSpPr>
        <p:spPr>
          <a:xfrm>
            <a:off x="6903720" y="3172968"/>
            <a:ext cx="1645920" cy="457200"/>
          </a:xfrm>
          <a:prstGeom prst="rect">
            <a:avLst/>
          </a:prstGeom>
          <a:noFill/>
          <a:ln/>
        </p:spPr>
        <p:txBody>
          <a:bodyPr wrap="square" lIns="0" tIns="0" rIns="0" bIns="0" rtlCol="0" anchor="ctr"/>
          <a:lstStyle/>
          <a:p>
            <a:pPr marL="0" indent="0">
              <a:buNone/>
            </a:pPr>
            <a:r>
              <a:rPr lang="en-US" sz="1600" b="1" dirty="0">
                <a:solidFill>
                  <a:schemeClr val="tx1"/>
                </a:solidFill>
                <a:latin typeface="+mn-lt" pitchFamily="34" charset="0"/>
                <a:ea typeface="+mn-lt" pitchFamily="34" charset="-122"/>
                <a:cs typeface="+mn-lt" pitchFamily="34" charset="-120"/>
              </a:rPr>
              <a:t>6  Act</a:t>
            </a:r>
            <a:endParaRPr lang="en-US" sz="1600" dirty="0"/>
          </a:p>
        </p:txBody>
      </p:sp>
      <p:sp>
        <p:nvSpPr>
          <p:cNvPr id="32" name="Text 24"/>
          <p:cNvSpPr txBox="1"/>
          <p:nvPr/>
        </p:nvSpPr>
        <p:spPr>
          <a:xfrm>
            <a:off x="6217920" y="3840480"/>
            <a:ext cx="2286000" cy="50292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Explain, recommend, dashboard</a:t>
            </a:r>
            <a:endParaRPr lang="en-US" sz="1400" dirty="0"/>
          </a:p>
        </p:txBody>
      </p:sp>
      <p:sp>
        <p:nvSpPr>
          <p:cNvPr id="33"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Failed machines work harder</a:t>
            </a:r>
            <a:endParaRPr lang="en-US" sz="3200" dirty="0"/>
          </a:p>
        </p:txBody>
      </p:sp>
      <p:graphicFrame>
        <p:nvGraphicFramePr>
          <p:cNvPr id="3" name="Chart 0"/>
          <p:cNvGraphicFramePr/>
          <p:nvPr/>
        </p:nvGraphicFramePr>
        <p:xfrm>
          <a:off x="365760" y="109728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943600" y="1234440"/>
            <a:ext cx="274320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6126480" y="1344168"/>
            <a:ext cx="2377440" cy="274320"/>
          </a:xfrm>
          <a:prstGeom prst="rect">
            <a:avLst/>
          </a:prstGeom>
          <a:noFill/>
          <a:ln/>
        </p:spPr>
        <p:txBody>
          <a:bodyPr wrap="square" lIns="0" tIns="0" rIns="0" bIns="0" rtlCol="0" anchor="ctr"/>
          <a:lstStyle/>
          <a:p>
            <a:pPr marL="0" indent="0">
              <a:buNone/>
            </a:pPr>
            <a:r>
              <a:rPr lang="en-US" sz="1300" b="1" dirty="0">
                <a:solidFill>
                  <a:schemeClr val="accent1"/>
                </a:solidFill>
                <a:latin typeface="+mn-lt" pitchFamily="34" charset="0"/>
                <a:ea typeface="+mn-lt" pitchFamily="34" charset="-122"/>
                <a:cs typeface="+mn-lt" pitchFamily="34" charset="-120"/>
              </a:rPr>
              <a:t>Torque</a:t>
            </a:r>
            <a:endParaRPr lang="en-US" sz="1300" dirty="0"/>
          </a:p>
        </p:txBody>
      </p:sp>
      <p:sp>
        <p:nvSpPr>
          <p:cNvPr id="6" name="Text 3"/>
          <p:cNvSpPr txBox="1"/>
          <p:nvPr/>
        </p:nvSpPr>
        <p:spPr>
          <a:xfrm>
            <a:off x="6126480" y="1645920"/>
            <a:ext cx="2377440" cy="594360"/>
          </a:xfrm>
          <a:prstGeom prst="rect">
            <a:avLst/>
          </a:prstGeom>
          <a:noFill/>
          <a:ln/>
        </p:spPr>
        <p:txBody>
          <a:bodyPr wrap="square" lIns="0" tIns="0" rIns="0" bIns="0" rtlCol="0" anchor="ctr"/>
          <a:lstStyle/>
          <a:p>
            <a:pPr marL="0" indent="0">
              <a:buNone/>
            </a:pPr>
            <a:r>
              <a:rPr lang="en-US" sz="3400" b="1" dirty="0">
                <a:solidFill>
                  <a:schemeClr val="tx1"/>
                </a:solidFill>
                <a:latin typeface="+mn-lt" pitchFamily="34" charset="0"/>
                <a:ea typeface="+mn-lt" pitchFamily="34" charset="-122"/>
                <a:cs typeface="+mn-lt" pitchFamily="34" charset="-120"/>
              </a:rPr>
              <a:t>50.2 Nm</a:t>
            </a:r>
            <a:endParaRPr lang="en-US" sz="3400" dirty="0"/>
          </a:p>
        </p:txBody>
      </p:sp>
      <p:sp>
        <p:nvSpPr>
          <p:cNvPr id="7" name="Text 4"/>
          <p:cNvSpPr txBox="1"/>
          <p:nvPr/>
        </p:nvSpPr>
        <p:spPr>
          <a:xfrm>
            <a:off x="6126480" y="2240280"/>
            <a:ext cx="237744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vs 39.6 Nm normal</a:t>
            </a:r>
            <a:endParaRPr lang="en-US" sz="1300" dirty="0"/>
          </a:p>
        </p:txBody>
      </p:sp>
      <p:sp>
        <p:nvSpPr>
          <p:cNvPr id="8" name="card"/>
          <p:cNvSpPr/>
          <p:nvPr/>
        </p:nvSpPr>
        <p:spPr>
          <a:xfrm>
            <a:off x="5943600" y="2834640"/>
            <a:ext cx="2743200" cy="1417320"/>
          </a:xfrm>
          <a:prstGeom prst="roundRect">
            <a:avLst>
              <a:gd name="adj" fmla="val 5161"/>
            </a:avLst>
          </a:prstGeom>
          <a:solidFill>
            <a:schemeClr val="bg2"/>
          </a:solidFill>
          <a:ln w="12700">
            <a:solidFill>
              <a:schemeClr val="bg2"/>
            </a:solidFill>
            <a:prstDash val="solid"/>
          </a:ln>
        </p:spPr>
      </p:sp>
      <p:sp>
        <p:nvSpPr>
          <p:cNvPr id="9" name="Text 6"/>
          <p:cNvSpPr txBox="1"/>
          <p:nvPr/>
        </p:nvSpPr>
        <p:spPr>
          <a:xfrm>
            <a:off x="6126480" y="2944368"/>
            <a:ext cx="2377440" cy="274320"/>
          </a:xfrm>
          <a:prstGeom prst="rect">
            <a:avLst/>
          </a:prstGeom>
          <a:noFill/>
          <a:ln/>
        </p:spPr>
        <p:txBody>
          <a:bodyPr wrap="square" lIns="0" tIns="0" rIns="0" bIns="0" rtlCol="0" anchor="ctr"/>
          <a:lstStyle/>
          <a:p>
            <a:pPr marL="0" indent="0">
              <a:buNone/>
            </a:pPr>
            <a:r>
              <a:rPr lang="en-US" sz="1300" b="1" dirty="0">
                <a:solidFill>
                  <a:schemeClr val="accent1"/>
                </a:solidFill>
                <a:latin typeface="+mn-lt" pitchFamily="34" charset="0"/>
                <a:ea typeface="+mn-lt" pitchFamily="34" charset="-122"/>
                <a:cs typeface="+mn-lt" pitchFamily="34" charset="-120"/>
              </a:rPr>
              <a:t>Tool wear</a:t>
            </a:r>
            <a:endParaRPr lang="en-US" sz="1300" dirty="0"/>
          </a:p>
        </p:txBody>
      </p:sp>
      <p:sp>
        <p:nvSpPr>
          <p:cNvPr id="10" name="Text 7"/>
          <p:cNvSpPr txBox="1"/>
          <p:nvPr/>
        </p:nvSpPr>
        <p:spPr>
          <a:xfrm>
            <a:off x="6126480" y="3246120"/>
            <a:ext cx="2377440" cy="594360"/>
          </a:xfrm>
          <a:prstGeom prst="rect">
            <a:avLst/>
          </a:prstGeom>
          <a:noFill/>
          <a:ln/>
        </p:spPr>
        <p:txBody>
          <a:bodyPr wrap="square" lIns="0" tIns="0" rIns="0" bIns="0" rtlCol="0" anchor="ctr"/>
          <a:lstStyle/>
          <a:p>
            <a:pPr marL="0" indent="0">
              <a:buNone/>
            </a:pPr>
            <a:r>
              <a:rPr lang="en-US" sz="3400" b="1" dirty="0">
                <a:solidFill>
                  <a:schemeClr val="tx1"/>
                </a:solidFill>
                <a:latin typeface="+mn-lt" pitchFamily="34" charset="0"/>
                <a:ea typeface="+mn-lt" pitchFamily="34" charset="-122"/>
                <a:cs typeface="+mn-lt" pitchFamily="34" charset="-120"/>
              </a:rPr>
              <a:t>144 min</a:t>
            </a:r>
            <a:endParaRPr lang="en-US" sz="3400" dirty="0"/>
          </a:p>
        </p:txBody>
      </p:sp>
      <p:sp>
        <p:nvSpPr>
          <p:cNvPr id="11" name="Text 8"/>
          <p:cNvSpPr txBox="1"/>
          <p:nvPr/>
        </p:nvSpPr>
        <p:spPr>
          <a:xfrm>
            <a:off x="6126480" y="3840480"/>
            <a:ext cx="237744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vs 107 min normal</a:t>
            </a:r>
            <a:endParaRPr lang="en-US" sz="1300" dirty="0"/>
          </a:p>
        </p:txBody>
      </p:sp>
      <p:sp>
        <p:nvSpPr>
          <p:cNvPr id="12" name="Text 9"/>
          <p:cNvSpPr txBox="1"/>
          <p:nvPr/>
        </p:nvSpPr>
        <p:spPr>
          <a:xfrm>
            <a:off x="5943600" y="4434840"/>
            <a:ext cx="2743200" cy="36576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Temperature differences are small — mechanical load and tool condition carry the signal.</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Each failure mode has a signature</a:t>
            </a:r>
            <a:endParaRPr lang="en-US" sz="3200" dirty="0"/>
          </a:p>
        </p:txBody>
      </p:sp>
      <p:graphicFrame>
        <p:nvGraphicFramePr>
          <p:cNvPr id="3" name="Chart 0"/>
          <p:cNvGraphicFramePr/>
          <p:nvPr/>
        </p:nvGraphicFramePr>
        <p:xfrm>
          <a:off x="365760" y="1097280"/>
          <a:ext cx="356616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206240" y="1280160"/>
          <a:ext cx="4480560" cy="2743200"/>
        </p:xfrm>
        <a:graphic>
          <a:graphicData uri="http://schemas.openxmlformats.org/drawingml/2006/table">
            <a:tbl>
              <a:tblPr/>
              <a:tblGrid>
                <a:gridCol w="8229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Operating signature</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A36"/>
                          </a:solidFill>
                          <a:latin typeface="Calibri" pitchFamily="34" charset="0"/>
                          <a:ea typeface="Calibri" pitchFamily="34" charset="-122"/>
                          <a:cs typeface="Calibri" pitchFamily="34" charset="-120"/>
                        </a:rPr>
                        <a:t>TWF</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tc>
                  <a:txBody>
                    <a:bodyPr/>
                    <a:lstStyle/>
                    <a:p>
                      <a:pPr marL="0" indent="0">
                        <a:buNone/>
                      </a:pPr>
                      <a:r>
                        <a:rPr lang="en-US" sz="1200" dirty="0">
                          <a:solidFill>
                            <a:srgbClr val="1F2A36"/>
                          </a:solidFill>
                          <a:latin typeface="Calibri" pitchFamily="34" charset="0"/>
                          <a:ea typeface="Calibri" pitchFamily="34" charset="-122"/>
                          <a:cs typeface="Calibri" pitchFamily="34" charset="-120"/>
                        </a:rPr>
                        <a:t>Tool wear ≈ 216 min</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F2A36"/>
                          </a:solidFill>
                          <a:latin typeface="Calibri" pitchFamily="34" charset="0"/>
                          <a:ea typeface="Calibri" pitchFamily="34" charset="-122"/>
                          <a:cs typeface="Calibri" pitchFamily="34" charset="-120"/>
                        </a:rPr>
                        <a:t>HDF</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tc>
                  <a:txBody>
                    <a:bodyPr/>
                    <a:lstStyle/>
                    <a:p>
                      <a:pPr marL="0" indent="0">
                        <a:buNone/>
                      </a:pPr>
                      <a:r>
                        <a:rPr lang="en-US" sz="1200" dirty="0">
                          <a:solidFill>
                            <a:srgbClr val="1F2A36"/>
                          </a:solidFill>
                          <a:latin typeface="Calibri" pitchFamily="34" charset="0"/>
                          <a:ea typeface="Calibri" pitchFamily="34" charset="-122"/>
                          <a:cs typeface="Calibri" pitchFamily="34" charset="-120"/>
                        </a:rPr>
                        <a:t>Torque 53 Nm, speed 1,337 rpm, warmer air</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F2A36"/>
                          </a:solidFill>
                          <a:latin typeface="Calibri" pitchFamily="34" charset="0"/>
                          <a:ea typeface="Calibri" pitchFamily="34" charset="-122"/>
                          <a:cs typeface="Calibri" pitchFamily="34" charset="-120"/>
                        </a:rPr>
                        <a:t>PWF</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tc>
                  <a:txBody>
                    <a:bodyPr/>
                    <a:lstStyle/>
                    <a:p>
                      <a:pPr marL="0" indent="0">
                        <a:buNone/>
                      </a:pPr>
                      <a:r>
                        <a:rPr lang="en-US" sz="1200" dirty="0">
                          <a:solidFill>
                            <a:srgbClr val="1F2A36"/>
                          </a:solidFill>
                          <a:latin typeface="Calibri" pitchFamily="34" charset="0"/>
                          <a:ea typeface="Calibri" pitchFamily="34" charset="-122"/>
                          <a:cs typeface="Calibri" pitchFamily="34" charset="-120"/>
                        </a:rPr>
                        <a:t>Highest speed, 1,764 rpm</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A36"/>
                          </a:solidFill>
                          <a:latin typeface="Calibri" pitchFamily="34" charset="0"/>
                          <a:ea typeface="Calibri" pitchFamily="34" charset="-122"/>
                          <a:cs typeface="Calibri" pitchFamily="34" charset="-120"/>
                        </a:rPr>
                        <a:t>OSF</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tc>
                  <a:txBody>
                    <a:bodyPr/>
                    <a:lstStyle/>
                    <a:p>
                      <a:pPr marL="0" indent="0">
                        <a:buNone/>
                      </a:pPr>
                      <a:r>
                        <a:rPr lang="en-US" sz="1200" dirty="0">
                          <a:solidFill>
                            <a:srgbClr val="1F2A36"/>
                          </a:solidFill>
                          <a:latin typeface="Calibri" pitchFamily="34" charset="0"/>
                          <a:ea typeface="Calibri" pitchFamily="34" charset="-122"/>
                          <a:cs typeface="Calibri" pitchFamily="34" charset="-120"/>
                        </a:rPr>
                        <a:t>Torque 58 Nm and wear ≈ 208 min</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1F2A36"/>
                          </a:solidFill>
                          <a:latin typeface="Calibri" pitchFamily="34" charset="0"/>
                          <a:ea typeface="Calibri" pitchFamily="34" charset="-122"/>
                          <a:cs typeface="Calibri" pitchFamily="34" charset="-120"/>
                        </a:rPr>
                        <a:t>RNF</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tc>
                  <a:txBody>
                    <a:bodyPr/>
                    <a:lstStyle/>
                    <a:p>
                      <a:pPr marL="0" indent="0">
                        <a:buNone/>
                      </a:pPr>
                      <a:r>
                        <a:rPr lang="en-US" sz="1200" dirty="0">
                          <a:solidFill>
                            <a:srgbClr val="1F2A36"/>
                          </a:solidFill>
                          <a:latin typeface="Calibri" pitchFamily="34" charset="0"/>
                          <a:ea typeface="Calibri" pitchFamily="34" charset="-122"/>
                          <a:cs typeface="Calibri" pitchFamily="34" charset="-120"/>
                        </a:rPr>
                        <a:t>No clear signature</a:t>
                      </a:r>
                      <a:endParaRPr lang="en-US" sz="1200" dirty="0">
                        <a:latin typeface="Calibri" charset="0"/>
                        <a:ea typeface="Calibri" charset="0"/>
                        <a:cs typeface="Calibri" charset="0"/>
                      </a:endParaRPr>
                    </a:p>
                  </a:txBody>
                  <a:tcPr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1"/>
          <p:cNvSpPr txBox="1"/>
          <p:nvPr/>
        </p:nvSpPr>
        <p:spPr>
          <a:xfrm>
            <a:off x="4206240" y="4206240"/>
            <a:ext cx="4480560" cy="457200"/>
          </a:xfrm>
          <a:prstGeom prst="rect">
            <a:avLst/>
          </a:prstGeom>
          <a:noFill/>
          <a:ln/>
        </p:spPr>
        <p:txBody>
          <a:bodyPr wrap="square" lIns="0" tIns="0" rIns="0" bIns="0" rtlCol="0" anchor="t"/>
          <a:lstStyle/>
          <a:p>
            <a:pPr marL="0" indent="0">
              <a:buNone/>
            </a:pPr>
            <a:r>
              <a:rPr lang="en-US" sz="1300" dirty="0">
                <a:solidFill>
                  <a:schemeClr val="accent3"/>
                </a:solidFill>
                <a:latin typeface="+mn-lt" pitchFamily="34" charset="0"/>
                <a:ea typeface="+mn-lt" pitchFamily="34" charset="-122"/>
                <a:cs typeface="+mn-lt" pitchFamily="34" charset="-120"/>
              </a:rPr>
              <a:t>Modes can overlap, so counts exceed the 339 failed records. One threshold cannot catch all of them.</a:t>
            </a:r>
            <a:endParaRPr lang="en-US" sz="13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Why accuracy misleads</a:t>
            </a:r>
            <a:endParaRPr lang="en-US" sz="3200" dirty="0"/>
          </a:p>
        </p:txBody>
      </p:sp>
      <p:sp>
        <p:nvSpPr>
          <p:cNvPr id="3" name="card"/>
          <p:cNvSpPr/>
          <p:nvPr/>
        </p:nvSpPr>
        <p:spPr>
          <a:xfrm>
            <a:off x="457200" y="1234440"/>
            <a:ext cx="3840480" cy="3291840"/>
          </a:xfrm>
          <a:prstGeom prst="roundRect">
            <a:avLst>
              <a:gd name="adj" fmla="val 2222"/>
            </a:avLst>
          </a:prstGeom>
          <a:solidFill>
            <a:srgbClr val="1F2A36"/>
          </a:solidFill>
          <a:ln w="12700">
            <a:solidFill>
              <a:srgbClr val="1F2A36"/>
            </a:solidFill>
            <a:prstDash val="solid"/>
          </a:ln>
        </p:spPr>
      </p:sp>
      <p:sp>
        <p:nvSpPr>
          <p:cNvPr id="4" name="Text 2"/>
          <p:cNvSpPr txBox="1"/>
          <p:nvPr/>
        </p:nvSpPr>
        <p:spPr>
          <a:xfrm>
            <a:off x="731520" y="1463040"/>
            <a:ext cx="3291840" cy="1097280"/>
          </a:xfrm>
          <a:prstGeom prst="rect">
            <a:avLst/>
          </a:prstGeom>
          <a:noFill/>
          <a:ln/>
        </p:spPr>
        <p:txBody>
          <a:bodyPr wrap="square" lIns="0" tIns="0" rIns="0" bIns="0" rtlCol="0" anchor="ctr"/>
          <a:lstStyle/>
          <a:p>
            <a:pPr marL="0" indent="0">
              <a:buNone/>
            </a:pPr>
            <a:r>
              <a:rPr lang="en-US" sz="6600" b="1" dirty="0">
                <a:solidFill>
                  <a:schemeClr val="accent1"/>
                </a:solidFill>
                <a:latin typeface="+mn-lt" pitchFamily="34" charset="0"/>
                <a:ea typeface="+mn-lt" pitchFamily="34" charset="-122"/>
                <a:cs typeface="+mn-lt" pitchFamily="34" charset="-120"/>
              </a:rPr>
              <a:t>96.6%</a:t>
            </a:r>
            <a:endParaRPr lang="en-US" sz="6600" dirty="0"/>
          </a:p>
        </p:txBody>
      </p:sp>
      <p:sp>
        <p:nvSpPr>
          <p:cNvPr id="5" name="Text 3"/>
          <p:cNvSpPr txBox="1"/>
          <p:nvPr/>
        </p:nvSpPr>
        <p:spPr>
          <a:xfrm>
            <a:off x="731520" y="2606040"/>
            <a:ext cx="3291840" cy="731520"/>
          </a:xfrm>
          <a:prstGeom prst="rect">
            <a:avLst/>
          </a:prstGeom>
          <a:noFill/>
          <a:ln/>
        </p:spPr>
        <p:txBody>
          <a:bodyPr wrap="square" lIns="0" tIns="0" rIns="0" bIns="0" rtlCol="0" anchor="t"/>
          <a:lstStyle/>
          <a:p>
            <a:pPr marL="0" indent="0">
              <a:buNone/>
            </a:pPr>
            <a:r>
              <a:rPr lang="en-US" sz="1600" dirty="0">
                <a:solidFill>
                  <a:schemeClr val="bg1"/>
                </a:solidFill>
                <a:latin typeface="+mn-lt" pitchFamily="34" charset="0"/>
                <a:ea typeface="+mn-lt" pitchFamily="34" charset="-122"/>
                <a:cs typeface="+mn-lt" pitchFamily="34" charset="-120"/>
              </a:rPr>
              <a:t>accuracy of a model that always says “no failure”</a:t>
            </a:r>
            <a:endParaRPr lang="en-US" sz="1600" dirty="0"/>
          </a:p>
        </p:txBody>
      </p:sp>
      <p:sp>
        <p:nvSpPr>
          <p:cNvPr id="6" name="Text 4"/>
          <p:cNvSpPr txBox="1"/>
          <p:nvPr/>
        </p:nvSpPr>
        <p:spPr>
          <a:xfrm>
            <a:off x="731520" y="3566160"/>
            <a:ext cx="3291840" cy="548640"/>
          </a:xfrm>
          <a:prstGeom prst="rect">
            <a:avLst/>
          </a:prstGeom>
          <a:noFill/>
          <a:ln/>
        </p:spPr>
        <p:txBody>
          <a:bodyPr wrap="square" lIns="0" tIns="0" rIns="0" bIns="0" rtlCol="0" anchor="ctr"/>
          <a:lstStyle/>
          <a:p>
            <a:pPr marL="0" indent="0">
              <a:buNone/>
            </a:pPr>
            <a:r>
              <a:rPr lang="en-US" sz="2200" b="1" dirty="0">
                <a:solidFill>
                  <a:schemeClr val="bg1"/>
                </a:solidFill>
                <a:latin typeface="+mn-lt" pitchFamily="34" charset="0"/>
                <a:ea typeface="+mn-lt" pitchFamily="34" charset="-122"/>
                <a:cs typeface="+mn-lt" pitchFamily="34" charset="-120"/>
              </a:rPr>
              <a:t>Failures caught: 0</a:t>
            </a:r>
            <a:endParaRPr lang="en-US" sz="2200" dirty="0"/>
          </a:p>
        </p:txBody>
      </p:sp>
      <p:sp>
        <p:nvSpPr>
          <p:cNvPr id="7" name="card"/>
          <p:cNvSpPr/>
          <p:nvPr/>
        </p:nvSpPr>
        <p:spPr>
          <a:xfrm>
            <a:off x="4572000" y="1234440"/>
            <a:ext cx="4114800" cy="1005840"/>
          </a:xfrm>
          <a:prstGeom prst="roundRect">
            <a:avLst>
              <a:gd name="adj" fmla="val 7273"/>
            </a:avLst>
          </a:prstGeom>
          <a:solidFill>
            <a:schemeClr val="bg2"/>
          </a:solidFill>
          <a:ln w="12700">
            <a:solidFill>
              <a:schemeClr val="bg2"/>
            </a:solidFill>
            <a:prstDash val="solid"/>
          </a:ln>
        </p:spPr>
      </p:sp>
      <p:sp>
        <p:nvSpPr>
          <p:cNvPr id="8" name="Text 6"/>
          <p:cNvSpPr txBox="1"/>
          <p:nvPr/>
        </p:nvSpPr>
        <p:spPr>
          <a:xfrm>
            <a:off x="4754880" y="1325880"/>
            <a:ext cx="3749040" cy="320040"/>
          </a:xfrm>
          <a:prstGeom prst="rect">
            <a:avLst/>
          </a:prstGeom>
          <a:noFill/>
          <a:ln/>
        </p:spPr>
        <p:txBody>
          <a:bodyPr wrap="square" lIns="0" tIns="0" rIns="0" bIns="0" rtlCol="0" anchor="ctr"/>
          <a:lstStyle/>
          <a:p>
            <a:pPr marL="0" indent="0">
              <a:buNone/>
            </a:pPr>
            <a:r>
              <a:rPr lang="en-US" sz="1600" b="1" dirty="0">
                <a:solidFill>
                  <a:schemeClr val="accent1"/>
                </a:solidFill>
                <a:latin typeface="+mn-lt" pitchFamily="34" charset="0"/>
                <a:ea typeface="+mn-lt" pitchFamily="34" charset="-122"/>
                <a:cs typeface="+mn-lt" pitchFamily="34" charset="-120"/>
              </a:rPr>
              <a:t>Precision</a:t>
            </a:r>
            <a:endParaRPr lang="en-US" sz="1600" dirty="0"/>
          </a:p>
        </p:txBody>
      </p:sp>
      <p:sp>
        <p:nvSpPr>
          <p:cNvPr id="9" name="Text 7"/>
          <p:cNvSpPr txBox="1"/>
          <p:nvPr/>
        </p:nvSpPr>
        <p:spPr>
          <a:xfrm>
            <a:off x="4754880" y="1645920"/>
            <a:ext cx="3749040" cy="502920"/>
          </a:xfrm>
          <a:prstGeom prst="rect">
            <a:avLst/>
          </a:prstGeom>
          <a:noFill/>
          <a:ln/>
        </p:spPr>
        <p:txBody>
          <a:bodyPr wrap="square" lIns="0" tIns="0" rIns="0" bIns="0" rtlCol="0" anchor="t"/>
          <a:lstStyle/>
          <a:p>
            <a:pPr marL="0" indent="0">
              <a:buNone/>
            </a:pPr>
            <a:r>
              <a:rPr lang="en-US" sz="1300" dirty="0">
                <a:solidFill>
                  <a:schemeClr val="accent3"/>
                </a:solidFill>
                <a:latin typeface="+mn-lt" pitchFamily="34" charset="0"/>
                <a:ea typeface="+mn-lt" pitchFamily="34" charset="-122"/>
                <a:cs typeface="+mn-lt" pitchFamily="34" charset="-120"/>
              </a:rPr>
              <a:t>Of machines flagged, how many truly fail — limits false alarms</a:t>
            </a:r>
            <a:endParaRPr lang="en-US" sz="1300" dirty="0"/>
          </a:p>
        </p:txBody>
      </p:sp>
      <p:sp>
        <p:nvSpPr>
          <p:cNvPr id="10" name="card"/>
          <p:cNvSpPr/>
          <p:nvPr/>
        </p:nvSpPr>
        <p:spPr>
          <a:xfrm>
            <a:off x="4572000" y="2377440"/>
            <a:ext cx="4114800" cy="1005840"/>
          </a:xfrm>
          <a:prstGeom prst="roundRect">
            <a:avLst>
              <a:gd name="adj" fmla="val 7273"/>
            </a:avLst>
          </a:prstGeom>
          <a:solidFill>
            <a:schemeClr val="bg2"/>
          </a:solidFill>
          <a:ln w="12700">
            <a:solidFill>
              <a:schemeClr val="bg2"/>
            </a:solidFill>
            <a:prstDash val="solid"/>
          </a:ln>
        </p:spPr>
      </p:sp>
      <p:sp>
        <p:nvSpPr>
          <p:cNvPr id="11" name="Text 9"/>
          <p:cNvSpPr txBox="1"/>
          <p:nvPr/>
        </p:nvSpPr>
        <p:spPr>
          <a:xfrm>
            <a:off x="4754880" y="2468880"/>
            <a:ext cx="3749040" cy="320040"/>
          </a:xfrm>
          <a:prstGeom prst="rect">
            <a:avLst/>
          </a:prstGeom>
          <a:noFill/>
          <a:ln/>
        </p:spPr>
        <p:txBody>
          <a:bodyPr wrap="square" lIns="0" tIns="0" rIns="0" bIns="0" rtlCol="0" anchor="ctr"/>
          <a:lstStyle/>
          <a:p>
            <a:pPr marL="0" indent="0">
              <a:buNone/>
            </a:pPr>
            <a:r>
              <a:rPr lang="en-US" sz="1600" b="1" dirty="0">
                <a:solidFill>
                  <a:schemeClr val="accent1"/>
                </a:solidFill>
                <a:latin typeface="+mn-lt" pitchFamily="34" charset="0"/>
                <a:ea typeface="+mn-lt" pitchFamily="34" charset="-122"/>
                <a:cs typeface="+mn-lt" pitchFamily="34" charset="-120"/>
              </a:rPr>
              <a:t>Recall</a:t>
            </a:r>
            <a:endParaRPr lang="en-US" sz="1600" dirty="0"/>
          </a:p>
        </p:txBody>
      </p:sp>
      <p:sp>
        <p:nvSpPr>
          <p:cNvPr id="12" name="Text 10"/>
          <p:cNvSpPr txBox="1"/>
          <p:nvPr/>
        </p:nvSpPr>
        <p:spPr>
          <a:xfrm>
            <a:off x="4754880" y="2788920"/>
            <a:ext cx="3749040" cy="502920"/>
          </a:xfrm>
          <a:prstGeom prst="rect">
            <a:avLst/>
          </a:prstGeom>
          <a:noFill/>
          <a:ln/>
        </p:spPr>
        <p:txBody>
          <a:bodyPr wrap="square" lIns="0" tIns="0" rIns="0" bIns="0" rtlCol="0" anchor="t"/>
          <a:lstStyle/>
          <a:p>
            <a:pPr marL="0" indent="0">
              <a:buNone/>
            </a:pPr>
            <a:r>
              <a:rPr lang="en-US" sz="1300" dirty="0">
                <a:solidFill>
                  <a:schemeClr val="accent3"/>
                </a:solidFill>
                <a:latin typeface="+mn-lt" pitchFamily="34" charset="0"/>
                <a:ea typeface="+mn-lt" pitchFamily="34" charset="-122"/>
                <a:cs typeface="+mn-lt" pitchFamily="34" charset="-120"/>
              </a:rPr>
              <a:t>Of real failures, how many we catch — limits missed breakdowns</a:t>
            </a:r>
            <a:endParaRPr lang="en-US" sz="1300" dirty="0"/>
          </a:p>
        </p:txBody>
      </p:sp>
      <p:sp>
        <p:nvSpPr>
          <p:cNvPr id="13" name="card"/>
          <p:cNvSpPr/>
          <p:nvPr/>
        </p:nvSpPr>
        <p:spPr>
          <a:xfrm>
            <a:off x="4572000" y="3520440"/>
            <a:ext cx="4114800" cy="1005840"/>
          </a:xfrm>
          <a:prstGeom prst="roundRect">
            <a:avLst>
              <a:gd name="adj" fmla="val 7273"/>
            </a:avLst>
          </a:prstGeom>
          <a:solidFill>
            <a:schemeClr val="bg2"/>
          </a:solidFill>
          <a:ln w="12700">
            <a:solidFill>
              <a:schemeClr val="bg2"/>
            </a:solidFill>
            <a:prstDash val="solid"/>
          </a:ln>
        </p:spPr>
      </p:sp>
      <p:sp>
        <p:nvSpPr>
          <p:cNvPr id="14" name="Text 12"/>
          <p:cNvSpPr txBox="1"/>
          <p:nvPr/>
        </p:nvSpPr>
        <p:spPr>
          <a:xfrm>
            <a:off x="4754880" y="3611880"/>
            <a:ext cx="3749040" cy="320040"/>
          </a:xfrm>
          <a:prstGeom prst="rect">
            <a:avLst/>
          </a:prstGeom>
          <a:noFill/>
          <a:ln/>
        </p:spPr>
        <p:txBody>
          <a:bodyPr wrap="square" lIns="0" tIns="0" rIns="0" bIns="0" rtlCol="0" anchor="ctr"/>
          <a:lstStyle/>
          <a:p>
            <a:pPr marL="0" indent="0">
              <a:buNone/>
            </a:pPr>
            <a:r>
              <a:rPr lang="en-US" sz="1600" b="1" dirty="0">
                <a:solidFill>
                  <a:schemeClr val="accent1"/>
                </a:solidFill>
                <a:latin typeface="+mn-lt" pitchFamily="34" charset="0"/>
                <a:ea typeface="+mn-lt" pitchFamily="34" charset="-122"/>
                <a:cs typeface="+mn-lt" pitchFamily="34" charset="-120"/>
              </a:rPr>
              <a:t>F1-score</a:t>
            </a:r>
            <a:endParaRPr lang="en-US" sz="1600" dirty="0"/>
          </a:p>
        </p:txBody>
      </p:sp>
      <p:sp>
        <p:nvSpPr>
          <p:cNvPr id="15" name="Text 13"/>
          <p:cNvSpPr txBox="1"/>
          <p:nvPr/>
        </p:nvSpPr>
        <p:spPr>
          <a:xfrm>
            <a:off x="4754880" y="3931920"/>
            <a:ext cx="3749040" cy="502920"/>
          </a:xfrm>
          <a:prstGeom prst="rect">
            <a:avLst/>
          </a:prstGeom>
          <a:noFill/>
          <a:ln/>
        </p:spPr>
        <p:txBody>
          <a:bodyPr wrap="square" lIns="0" tIns="0" rIns="0" bIns="0" rtlCol="0" anchor="t"/>
          <a:lstStyle/>
          <a:p>
            <a:pPr marL="0" indent="0">
              <a:buNone/>
            </a:pPr>
            <a:r>
              <a:rPr lang="en-US" sz="1300" dirty="0">
                <a:solidFill>
                  <a:schemeClr val="accent3"/>
                </a:solidFill>
                <a:latin typeface="+mn-lt" pitchFamily="34" charset="0"/>
                <a:ea typeface="+mn-lt" pitchFamily="34" charset="-122"/>
                <a:cs typeface="+mn-lt" pitchFamily="34" charset="-120"/>
              </a:rPr>
              <a:t>Balance of the two — our tuning objective</a:t>
            </a:r>
            <a:endParaRPr lang="en-US" sz="13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Six models, tuned and compared</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944368"/>
        </p:xfrm>
        <a:graphic>
          <a:graphicData uri="http://schemas.openxmlformats.org/drawingml/2006/table">
            <a:tbl>
              <a:tblPr/>
              <a:tblGrid>
                <a:gridCol w="3108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2062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extLst>
                  <a:ext uri="{0D108BD9-81ED-4DB2-BD59-A6C34878D82A}">
                    <a16:rowId xmlns:a16="http://schemas.microsoft.com/office/drawing/2014/main" val="10000"/>
                  </a:ext>
                </a:extLst>
              </a:tr>
              <a:tr h="420624">
                <a:tc>
                  <a:txBody>
                    <a:bodyPr/>
                    <a:lstStyle/>
                    <a:p>
                      <a:pPr marL="0" indent="0" algn="l">
                        <a:buNone/>
                      </a:pPr>
                      <a:r>
                        <a:rPr lang="en-US" sz="1400" dirty="0">
                          <a:solidFill>
                            <a:srgbClr val="1F2A36"/>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96.80%</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0.12</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0.20</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400" dirty="0">
                          <a:solidFill>
                            <a:srgbClr val="1F2A36"/>
                          </a:solidFill>
                          <a:latin typeface="Calibri" pitchFamily="34" charset="0"/>
                          <a:ea typeface="Calibri" pitchFamily="34" charset="-122"/>
                          <a:cs typeface="Calibri" pitchFamily="34" charset="-120"/>
                        </a:rPr>
                        <a:t>KNN*</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97.25%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0.81</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20624">
                <a:tc>
                  <a:txBody>
                    <a:bodyPr/>
                    <a:lstStyle/>
                    <a:p>
                      <a:pPr marL="0" indent="0" algn="l">
                        <a:buNone/>
                      </a:pPr>
                      <a:r>
                        <a:rPr lang="en-US" sz="1400" b="1" dirty="0">
                          <a:solidFill>
                            <a:srgbClr val="1F2A36"/>
                          </a:solidFill>
                          <a:latin typeface="Calibri" pitchFamily="34" charset="0"/>
                          <a:ea typeface="Calibri" pitchFamily="34" charset="-122"/>
                          <a:cs typeface="Calibri" pitchFamily="34" charset="-120"/>
                        </a:rPr>
                        <a:t>Tuned Decision Tree</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BE3CE"/>
                    </a:solidFill>
                  </a:tcPr>
                </a:tc>
                <a:tc>
                  <a:txBody>
                    <a:bodyPr/>
                    <a:lstStyle/>
                    <a:p>
                      <a:pPr marL="0" indent="0" algn="ctr">
                        <a:buNone/>
                      </a:pPr>
                      <a:r>
                        <a:rPr lang="en-US" sz="1400" b="1" dirty="0">
                          <a:solidFill>
                            <a:srgbClr val="1F2A36"/>
                          </a:solidFill>
                          <a:latin typeface="Calibri" pitchFamily="34" charset="0"/>
                          <a:ea typeface="Calibri" pitchFamily="34" charset="-122"/>
                          <a:cs typeface="Calibri" pitchFamily="34" charset="-120"/>
                        </a:rPr>
                        <a:t>98.55%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BE3CE"/>
                    </a:solidFill>
                  </a:tcPr>
                </a:tc>
                <a:tc>
                  <a:txBody>
                    <a:bodyPr/>
                    <a:lstStyle/>
                    <a:p>
                      <a:pPr marL="0" indent="0" algn="ctr">
                        <a:buNone/>
                      </a:pPr>
                      <a:r>
                        <a:rPr lang="en-US" sz="1400" b="1" dirty="0">
                          <a:solidFill>
                            <a:srgbClr val="1F2A36"/>
                          </a:solidFill>
                          <a:latin typeface="Calibri" pitchFamily="34" charset="0"/>
                          <a:ea typeface="Calibri" pitchFamily="34" charset="-122"/>
                          <a:cs typeface="Calibri" pitchFamily="34" charset="-120"/>
                        </a:rPr>
                        <a:t>0.79</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BE3CE"/>
                    </a:solidFill>
                  </a:tcPr>
                </a:tc>
                <a:tc>
                  <a:txBody>
                    <a:bodyPr/>
                    <a:lstStyle/>
                    <a:p>
                      <a:pPr marL="0" indent="0" algn="ctr">
                        <a:buNone/>
                      </a:pPr>
                      <a:r>
                        <a:rPr lang="en-US" sz="1400" b="1" dirty="0">
                          <a:solidFill>
                            <a:srgbClr val="1F2A36"/>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BE3CE"/>
                    </a:solidFill>
                  </a:tcPr>
                </a:tc>
                <a:tc>
                  <a:txBody>
                    <a:bodyPr/>
                    <a:lstStyle/>
                    <a:p>
                      <a:pPr marL="0" indent="0" algn="ctr">
                        <a:buNone/>
                      </a:pPr>
                      <a:r>
                        <a:rPr lang="en-US" sz="1400" b="1" dirty="0">
                          <a:solidFill>
                            <a:srgbClr val="1F2A36"/>
                          </a:solidFill>
                          <a:latin typeface="Calibri" pitchFamily="34" charset="0"/>
                          <a:ea typeface="Calibri" pitchFamily="34" charset="-122"/>
                          <a:cs typeface="Calibri" pitchFamily="34" charset="-120"/>
                        </a:rPr>
                        <a:t>0.79</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BE3CE"/>
                    </a:solidFill>
                  </a:tcPr>
                </a:tc>
                <a:extLst>
                  <a:ext uri="{0D108BD9-81ED-4DB2-BD59-A6C34878D82A}">
                    <a16:rowId xmlns:a16="http://schemas.microsoft.com/office/drawing/2014/main" val="10003"/>
                  </a:ext>
                </a:extLst>
              </a:tr>
              <a:tr h="420624">
                <a:tc>
                  <a:txBody>
                    <a:bodyPr/>
                    <a:lstStyle/>
                    <a:p>
                      <a:pPr marL="0" indent="0" algn="l">
                        <a:buNone/>
                      </a:pPr>
                      <a:r>
                        <a:rPr lang="en-US" sz="1400" dirty="0">
                          <a:solidFill>
                            <a:srgbClr val="1F2A36"/>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98.50%</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0.88</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0.65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20624">
                <a:tc>
                  <a:txBody>
                    <a:bodyPr/>
                    <a:lstStyle/>
                    <a:p>
                      <a:pPr marL="0" indent="0" algn="l">
                        <a:buNone/>
                      </a:pPr>
                      <a:r>
                        <a:rPr lang="en-US" sz="1400" dirty="0">
                          <a:solidFill>
                            <a:srgbClr val="1F2A36"/>
                          </a:solidFill>
                          <a:latin typeface="Calibri" pitchFamily="34" charset="0"/>
                          <a:ea typeface="Calibri" pitchFamily="34" charset="-122"/>
                          <a:cs typeface="Calibri" pitchFamily="34" charset="-120"/>
                        </a:rPr>
                        <a:t>Tuned SVM</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98.05%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0.63</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400" dirty="0">
                          <a:solidFill>
                            <a:srgbClr val="1F2A36"/>
                          </a:solidFill>
                          <a:latin typeface="Calibri" pitchFamily="34" charset="0"/>
                          <a:ea typeface="Calibri" pitchFamily="34" charset="-122"/>
                          <a:cs typeface="Calibri" pitchFamily="34" charset="-120"/>
                        </a:rPr>
                        <a:t>Tuned Gradient Boosting</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98.60%</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0.84</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0.72</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4297680"/>
            <a:ext cx="8229600" cy="274320"/>
          </a:xfrm>
          <a:prstGeom prst="rect">
            <a:avLst/>
          </a:prstGeom>
          <a:noFill/>
          <a:ln/>
        </p:spPr>
        <p:txBody>
          <a:bodyPr wrap="square" lIns="0" tIns="0" rIns="0" bIns="0" rtlCol="0" anchor="ctr"/>
          <a:lstStyle/>
          <a:p>
            <a:pPr marL="0" indent="0">
              <a:buNone/>
            </a:pPr>
            <a:r>
              <a:rPr lang="en-US" sz="1200" dirty="0">
                <a:solidFill>
                  <a:schemeClr val="accent3"/>
                </a:solidFill>
                <a:latin typeface="+mn-lt" pitchFamily="34" charset="0"/>
                <a:ea typeface="+mn-lt" pitchFamily="34" charset="-122"/>
                <a:cs typeface="+mn-lt" pitchFamily="34" charset="-120"/>
              </a:rPr>
              <a:t>GridSearchCV with F1 objective · stratified 80/20 split · 68 failures in the 2,000-record test set</a:t>
            </a:r>
            <a:endParaRPr lang="en-US" sz="1200" dirty="0"/>
          </a:p>
        </p:txBody>
      </p:sp>
      <p:sp>
        <p:nvSpPr>
          <p:cNvPr id="5" name="Text 2"/>
          <p:cNvSpPr txBox="1"/>
          <p:nvPr/>
        </p:nvSpPr>
        <p:spPr>
          <a:xfrm>
            <a:off x="457200" y="4553712"/>
            <a:ext cx="7772400" cy="274320"/>
          </a:xfrm>
          <a:prstGeom prst="rect">
            <a:avLst/>
          </a:prstGeom>
          <a:noFill/>
          <a:ln/>
        </p:spPr>
        <p:txBody>
          <a:bodyPr wrap="square" lIns="0" tIns="0" rIns="0" bIns="0" rtlCol="0" anchor="ctr"/>
          <a:lstStyle/>
          <a:p>
            <a:pPr marL="0" indent="0">
              <a:buNone/>
            </a:pPr>
            <a:r>
              <a:rPr lang="en-US" sz="1000" dirty="0">
                <a:solidFill>
                  <a:schemeClr val="accent3"/>
                </a:solidFill>
                <a:latin typeface="+mn-lt" pitchFamily="34" charset="0"/>
                <a:ea typeface="+mn-lt" pitchFamily="34" charset="-122"/>
                <a:cs typeface="+mn-lt" pitchFamily="34" charset="-120"/>
              </a:rPr>
              <a:t>* baseline results; tuned KNN (K = 5): P 0.83, R 0.29, F1 0.43. Tuned Logistic Regression: P 0.64, R 0.13, F1 0.22.</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Failure detection by model</a:t>
            </a:r>
            <a:endParaRPr lang="en-US" sz="3200" dirty="0"/>
          </a:p>
        </p:txBody>
      </p:sp>
      <p:graphicFrame>
        <p:nvGraphicFramePr>
          <p:cNvPr id="3" name="Chart 0"/>
          <p:cNvGraphicFramePr/>
          <p:nvPr/>
        </p:nvGraphicFramePr>
        <p:xfrm>
          <a:off x="365760" y="1097280"/>
          <a:ext cx="57607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6400800" y="1188720"/>
            <a:ext cx="2286000" cy="1024128"/>
          </a:xfrm>
          <a:prstGeom prst="roundRect">
            <a:avLst>
              <a:gd name="adj" fmla="val 7143"/>
            </a:avLst>
          </a:prstGeom>
          <a:solidFill>
            <a:schemeClr val="bg2"/>
          </a:solidFill>
          <a:ln w="12700">
            <a:solidFill>
              <a:schemeClr val="bg2"/>
            </a:solidFill>
            <a:prstDash val="solid"/>
          </a:ln>
        </p:spPr>
      </p:sp>
      <p:sp>
        <p:nvSpPr>
          <p:cNvPr id="5" name="Text 2"/>
          <p:cNvSpPr txBox="1"/>
          <p:nvPr/>
        </p:nvSpPr>
        <p:spPr>
          <a:xfrm>
            <a:off x="6537960" y="1280160"/>
            <a:ext cx="2057400" cy="320040"/>
          </a:xfrm>
          <a:prstGeom prst="rect">
            <a:avLst/>
          </a:prstGeom>
          <a:noFill/>
          <a:ln/>
        </p:spPr>
        <p:txBody>
          <a:bodyPr wrap="square" lIns="0" tIns="0" rIns="0" bIns="0" rtlCol="0" anchor="ctr"/>
          <a:lstStyle/>
          <a:p>
            <a:pPr marL="0" indent="0">
              <a:buNone/>
            </a:pPr>
            <a:r>
              <a:rPr lang="en-US" sz="1400" b="1" dirty="0">
                <a:solidFill>
                  <a:schemeClr val="accent1"/>
                </a:solidFill>
                <a:latin typeface="+mn-lt" pitchFamily="34" charset="0"/>
                <a:ea typeface="+mn-lt" pitchFamily="34" charset="-122"/>
                <a:cs typeface="+mn-lt" pitchFamily="34" charset="-120"/>
              </a:rPr>
              <a:t>Tuned Decision Tree</a:t>
            </a:r>
            <a:endParaRPr lang="en-US" sz="1400" dirty="0"/>
          </a:p>
        </p:txBody>
      </p:sp>
      <p:sp>
        <p:nvSpPr>
          <p:cNvPr id="6" name="Text 3"/>
          <p:cNvSpPr txBox="1"/>
          <p:nvPr/>
        </p:nvSpPr>
        <p:spPr>
          <a:xfrm>
            <a:off x="6537960" y="1627632"/>
            <a:ext cx="2057400" cy="54864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Best recall (0.78) and F1 (0.79)</a:t>
            </a:r>
            <a:endParaRPr lang="en-US" sz="1200" dirty="0"/>
          </a:p>
        </p:txBody>
      </p:sp>
      <p:sp>
        <p:nvSpPr>
          <p:cNvPr id="7" name="card"/>
          <p:cNvSpPr/>
          <p:nvPr/>
        </p:nvSpPr>
        <p:spPr>
          <a:xfrm>
            <a:off x="6400800" y="2359152"/>
            <a:ext cx="2286000"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6537960" y="2450592"/>
            <a:ext cx="2057400" cy="32004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Tuned Gradient Boosting</a:t>
            </a:r>
            <a:endParaRPr lang="en-US" sz="1400" dirty="0"/>
          </a:p>
        </p:txBody>
      </p:sp>
      <p:sp>
        <p:nvSpPr>
          <p:cNvPr id="9" name="Text 6"/>
          <p:cNvSpPr txBox="1"/>
          <p:nvPr/>
        </p:nvSpPr>
        <p:spPr>
          <a:xfrm>
            <a:off x="6537960" y="2798064"/>
            <a:ext cx="2057400" cy="54864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Best accuracy (98.60%), F1 0.78</a:t>
            </a:r>
            <a:endParaRPr lang="en-US" sz="1200" dirty="0"/>
          </a:p>
        </p:txBody>
      </p:sp>
      <p:sp>
        <p:nvSpPr>
          <p:cNvPr id="10" name="card"/>
          <p:cNvSpPr/>
          <p:nvPr/>
        </p:nvSpPr>
        <p:spPr>
          <a:xfrm>
            <a:off x="6400800" y="3529584"/>
            <a:ext cx="2286000"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6537960" y="3621024"/>
            <a:ext cx="2057400" cy="32004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Random Forest</a:t>
            </a:r>
            <a:endParaRPr lang="en-US" sz="1400" dirty="0"/>
          </a:p>
        </p:txBody>
      </p:sp>
      <p:sp>
        <p:nvSpPr>
          <p:cNvPr id="12" name="Text 9"/>
          <p:cNvSpPr txBox="1"/>
          <p:nvPr/>
        </p:nvSpPr>
        <p:spPr>
          <a:xfrm>
            <a:off x="6537960" y="3968496"/>
            <a:ext cx="2057400" cy="54864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Best precision (0.88), fewer alarms</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Selected: tuned Decision Tree</a:t>
            </a:r>
            <a:endParaRPr lang="en-US" sz="3200" dirty="0"/>
          </a:p>
        </p:txBody>
      </p:sp>
      <p:sp>
        <p:nvSpPr>
          <p:cNvPr id="3" name="Text 1"/>
          <p:cNvSpPr txBox="1"/>
          <p:nvPr/>
        </p:nvSpPr>
        <p:spPr>
          <a:xfrm>
            <a:off x="822960" y="1097280"/>
            <a:ext cx="3291840" cy="274320"/>
          </a:xfrm>
          <a:prstGeom prst="rect">
            <a:avLst/>
          </a:prstGeom>
          <a:noFill/>
          <a:ln/>
        </p:spPr>
        <p:txBody>
          <a:bodyPr wrap="square" lIns="0" tIns="0" rIns="0" bIns="0" rtlCol="0" anchor="ctr"/>
          <a:lstStyle/>
          <a:p>
            <a:pPr marL="0" indent="0" algn="ctr">
              <a:buNone/>
            </a:pPr>
            <a:r>
              <a:rPr lang="en-US" sz="1300" b="1" dirty="0">
                <a:solidFill>
                  <a:schemeClr val="accent3"/>
                </a:solidFill>
                <a:latin typeface="+mn-lt" pitchFamily="34" charset="0"/>
                <a:ea typeface="+mn-lt" pitchFamily="34" charset="-122"/>
                <a:cs typeface="+mn-lt" pitchFamily="34" charset="-120"/>
              </a:rPr>
              <a:t>Test set (2,000 machines)</a:t>
            </a:r>
            <a:endParaRPr lang="en-US" sz="1300" dirty="0"/>
          </a:p>
        </p:txBody>
      </p:sp>
      <p:sp>
        <p:nvSpPr>
          <p:cNvPr id="4" name="Text 2"/>
          <p:cNvSpPr txBox="1"/>
          <p:nvPr/>
        </p:nvSpPr>
        <p:spPr>
          <a:xfrm>
            <a:off x="1188720" y="1371600"/>
            <a:ext cx="1371600" cy="274320"/>
          </a:xfrm>
          <a:prstGeom prst="rect">
            <a:avLst/>
          </a:prstGeom>
          <a:noFill/>
          <a:ln/>
        </p:spPr>
        <p:txBody>
          <a:bodyPr wrap="square" lIns="0" tIns="0" rIns="0" bIns="0" rtlCol="0" anchor="ctr"/>
          <a:lstStyle/>
          <a:p>
            <a:pPr marL="0" indent="0" algn="ctr">
              <a:buNone/>
            </a:pPr>
            <a:r>
              <a:rPr lang="en-US" sz="1100" dirty="0">
                <a:solidFill>
                  <a:schemeClr val="accent3"/>
                </a:solidFill>
                <a:latin typeface="+mn-lt" pitchFamily="34" charset="0"/>
                <a:ea typeface="+mn-lt" pitchFamily="34" charset="-122"/>
                <a:cs typeface="+mn-lt" pitchFamily="34" charset="-120"/>
              </a:rPr>
              <a:t>Predicted normal</a:t>
            </a:r>
            <a:endParaRPr lang="en-US" sz="1100" dirty="0"/>
          </a:p>
        </p:txBody>
      </p:sp>
      <p:sp>
        <p:nvSpPr>
          <p:cNvPr id="5" name="Text 3"/>
          <p:cNvSpPr txBox="1"/>
          <p:nvPr/>
        </p:nvSpPr>
        <p:spPr>
          <a:xfrm>
            <a:off x="2606040" y="1371600"/>
            <a:ext cx="1371600" cy="274320"/>
          </a:xfrm>
          <a:prstGeom prst="rect">
            <a:avLst/>
          </a:prstGeom>
          <a:noFill/>
          <a:ln/>
        </p:spPr>
        <p:txBody>
          <a:bodyPr wrap="square" lIns="0" tIns="0" rIns="0" bIns="0" rtlCol="0" anchor="ctr"/>
          <a:lstStyle/>
          <a:p>
            <a:pPr marL="0" indent="0" algn="ctr">
              <a:buNone/>
            </a:pPr>
            <a:r>
              <a:rPr lang="en-US" sz="1100" dirty="0">
                <a:solidFill>
                  <a:schemeClr val="accent3"/>
                </a:solidFill>
                <a:latin typeface="+mn-lt" pitchFamily="34" charset="0"/>
                <a:ea typeface="+mn-lt" pitchFamily="34" charset="-122"/>
                <a:cs typeface="+mn-lt" pitchFamily="34" charset="-120"/>
              </a:rPr>
              <a:t>Predicted failure</a:t>
            </a:r>
            <a:endParaRPr lang="en-US" sz="1100" dirty="0"/>
          </a:p>
        </p:txBody>
      </p:sp>
      <p:sp>
        <p:nvSpPr>
          <p:cNvPr id="6" name="Text 4"/>
          <p:cNvSpPr txBox="1"/>
          <p:nvPr/>
        </p:nvSpPr>
        <p:spPr>
          <a:xfrm>
            <a:off x="320040" y="1737360"/>
            <a:ext cx="822960" cy="1280160"/>
          </a:xfrm>
          <a:prstGeom prst="rect">
            <a:avLst/>
          </a:prstGeom>
          <a:noFill/>
          <a:ln/>
        </p:spPr>
        <p:txBody>
          <a:bodyPr wrap="square" lIns="0" tIns="0" rIns="0" bIns="0" rtlCol="0" anchor="ctr"/>
          <a:lstStyle/>
          <a:p>
            <a:pPr marL="0" indent="0" algn="ctr">
              <a:buNone/>
            </a:pPr>
            <a:r>
              <a:rPr lang="en-US" sz="1100" dirty="0">
                <a:solidFill>
                  <a:schemeClr val="accent3"/>
                </a:solidFill>
                <a:latin typeface="+mn-lt" pitchFamily="34" charset="0"/>
                <a:ea typeface="+mn-lt" pitchFamily="34" charset="-122"/>
                <a:cs typeface="+mn-lt" pitchFamily="34" charset="-120"/>
              </a:rPr>
              <a:t>Actual normal</a:t>
            </a:r>
            <a:endParaRPr lang="en-US" sz="1100" dirty="0"/>
          </a:p>
        </p:txBody>
      </p:sp>
      <p:sp>
        <p:nvSpPr>
          <p:cNvPr id="7" name="Text 5"/>
          <p:cNvSpPr txBox="1"/>
          <p:nvPr/>
        </p:nvSpPr>
        <p:spPr>
          <a:xfrm>
            <a:off x="320040" y="3108960"/>
            <a:ext cx="822960" cy="1280160"/>
          </a:xfrm>
          <a:prstGeom prst="rect">
            <a:avLst/>
          </a:prstGeom>
          <a:noFill/>
          <a:ln/>
        </p:spPr>
        <p:txBody>
          <a:bodyPr wrap="square" lIns="0" tIns="0" rIns="0" bIns="0" rtlCol="0" anchor="ctr"/>
          <a:lstStyle/>
          <a:p>
            <a:pPr marL="0" indent="0" algn="ctr">
              <a:buNone/>
            </a:pPr>
            <a:r>
              <a:rPr lang="en-US" sz="1100" dirty="0">
                <a:solidFill>
                  <a:schemeClr val="accent3"/>
                </a:solidFill>
                <a:latin typeface="+mn-lt" pitchFamily="34" charset="0"/>
                <a:ea typeface="+mn-lt" pitchFamily="34" charset="-122"/>
                <a:cs typeface="+mn-lt" pitchFamily="34" charset="-120"/>
              </a:rPr>
              <a:t>Actual failure</a:t>
            </a:r>
            <a:endParaRPr lang="en-US" sz="1100" dirty="0"/>
          </a:p>
        </p:txBody>
      </p:sp>
      <p:sp>
        <p:nvSpPr>
          <p:cNvPr id="8" name="cm-cell"/>
          <p:cNvSpPr/>
          <p:nvPr/>
        </p:nvSpPr>
        <p:spPr>
          <a:xfrm>
            <a:off x="1188720" y="1691640"/>
            <a:ext cx="1371600" cy="1325880"/>
          </a:xfrm>
          <a:prstGeom prst="rect">
            <a:avLst/>
          </a:prstGeom>
          <a:solidFill>
            <a:srgbClr val="1F2A36"/>
          </a:solidFill>
          <a:ln w="12700">
            <a:solidFill>
              <a:srgbClr val="FFFFFF"/>
            </a:solidFill>
            <a:prstDash val="solid"/>
          </a:ln>
        </p:spPr>
      </p:sp>
      <p:sp>
        <p:nvSpPr>
          <p:cNvPr id="9" name="Text 7"/>
          <p:cNvSpPr txBox="1"/>
          <p:nvPr/>
        </p:nvSpPr>
        <p:spPr>
          <a:xfrm>
            <a:off x="1188720" y="1691640"/>
            <a:ext cx="1371600" cy="1325880"/>
          </a:xfrm>
          <a:prstGeom prst="rect">
            <a:avLst/>
          </a:prstGeom>
          <a:noFill/>
          <a:ln/>
        </p:spPr>
        <p:txBody>
          <a:bodyPr wrap="square" lIns="0" tIns="0" rIns="0" bIns="0" rtlCol="0" anchor="ctr"/>
          <a:lstStyle/>
          <a:p>
            <a:pPr marL="0" indent="0" algn="ctr">
              <a:buNone/>
            </a:pPr>
            <a:r>
              <a:rPr lang="en-US" sz="3000" b="1" dirty="0">
                <a:solidFill>
                  <a:srgbClr val="FFFFFF"/>
                </a:solidFill>
                <a:latin typeface="+mn-lt" pitchFamily="34" charset="0"/>
                <a:ea typeface="+mn-lt" pitchFamily="34" charset="-122"/>
                <a:cs typeface="+mn-lt" pitchFamily="34" charset="-120"/>
              </a:rPr>
              <a:t>1,918</a:t>
            </a:r>
            <a:endParaRPr lang="en-US" sz="3000" dirty="0"/>
          </a:p>
        </p:txBody>
      </p:sp>
      <p:sp>
        <p:nvSpPr>
          <p:cNvPr id="10" name="cm-cell"/>
          <p:cNvSpPr/>
          <p:nvPr/>
        </p:nvSpPr>
        <p:spPr>
          <a:xfrm>
            <a:off x="2606040" y="1691640"/>
            <a:ext cx="1371600" cy="1325880"/>
          </a:xfrm>
          <a:prstGeom prst="rect">
            <a:avLst/>
          </a:prstGeom>
          <a:solidFill>
            <a:srgbClr val="FBE3CE"/>
          </a:solidFill>
          <a:ln w="12700">
            <a:solidFill>
              <a:srgbClr val="FFFFFF"/>
            </a:solidFill>
            <a:prstDash val="solid"/>
          </a:ln>
        </p:spPr>
      </p:sp>
      <p:sp>
        <p:nvSpPr>
          <p:cNvPr id="11" name="Text 9"/>
          <p:cNvSpPr txBox="1"/>
          <p:nvPr/>
        </p:nvSpPr>
        <p:spPr>
          <a:xfrm>
            <a:off x="2606040" y="1691640"/>
            <a:ext cx="1371600" cy="1325880"/>
          </a:xfrm>
          <a:prstGeom prst="rect">
            <a:avLst/>
          </a:prstGeom>
          <a:noFill/>
          <a:ln/>
        </p:spPr>
        <p:txBody>
          <a:bodyPr wrap="square" lIns="0" tIns="0" rIns="0" bIns="0" rtlCol="0" anchor="ctr"/>
          <a:lstStyle/>
          <a:p>
            <a:pPr marL="0" indent="0" algn="ctr">
              <a:buNone/>
            </a:pPr>
            <a:r>
              <a:rPr lang="en-US" sz="3000" b="1" dirty="0">
                <a:solidFill>
                  <a:srgbClr val="1F2A36"/>
                </a:solidFill>
                <a:latin typeface="+mn-lt" pitchFamily="34" charset="0"/>
                <a:ea typeface="+mn-lt" pitchFamily="34" charset="-122"/>
                <a:cs typeface="+mn-lt" pitchFamily="34" charset="-120"/>
              </a:rPr>
              <a:t>14</a:t>
            </a:r>
            <a:endParaRPr lang="en-US" sz="3000" dirty="0"/>
          </a:p>
        </p:txBody>
      </p:sp>
      <p:sp>
        <p:nvSpPr>
          <p:cNvPr id="12" name="cm-cell"/>
          <p:cNvSpPr/>
          <p:nvPr/>
        </p:nvSpPr>
        <p:spPr>
          <a:xfrm>
            <a:off x="1188720" y="3063240"/>
            <a:ext cx="1371600" cy="1325880"/>
          </a:xfrm>
          <a:prstGeom prst="rect">
            <a:avLst/>
          </a:prstGeom>
          <a:solidFill>
            <a:srgbClr val="FBE3CE"/>
          </a:solidFill>
          <a:ln w="12700">
            <a:solidFill>
              <a:srgbClr val="FFFFFF"/>
            </a:solidFill>
            <a:prstDash val="solid"/>
          </a:ln>
        </p:spPr>
      </p:sp>
      <p:sp>
        <p:nvSpPr>
          <p:cNvPr id="13" name="Text 11"/>
          <p:cNvSpPr txBox="1"/>
          <p:nvPr/>
        </p:nvSpPr>
        <p:spPr>
          <a:xfrm>
            <a:off x="1188720" y="3063240"/>
            <a:ext cx="1371600" cy="1325880"/>
          </a:xfrm>
          <a:prstGeom prst="rect">
            <a:avLst/>
          </a:prstGeom>
          <a:noFill/>
          <a:ln/>
        </p:spPr>
        <p:txBody>
          <a:bodyPr wrap="square" lIns="0" tIns="0" rIns="0" bIns="0" rtlCol="0" anchor="ctr"/>
          <a:lstStyle/>
          <a:p>
            <a:pPr marL="0" indent="0" algn="ctr">
              <a:buNone/>
            </a:pPr>
            <a:r>
              <a:rPr lang="en-US" sz="3000" b="1" dirty="0">
                <a:solidFill>
                  <a:srgbClr val="1F2A36"/>
                </a:solidFill>
                <a:latin typeface="+mn-lt" pitchFamily="34" charset="0"/>
                <a:ea typeface="+mn-lt" pitchFamily="34" charset="-122"/>
                <a:cs typeface="+mn-lt" pitchFamily="34" charset="-120"/>
              </a:rPr>
              <a:t>15</a:t>
            </a:r>
            <a:endParaRPr lang="en-US" sz="3000" dirty="0"/>
          </a:p>
        </p:txBody>
      </p:sp>
      <p:sp>
        <p:nvSpPr>
          <p:cNvPr id="14" name="cm-cell"/>
          <p:cNvSpPr/>
          <p:nvPr/>
        </p:nvSpPr>
        <p:spPr>
          <a:xfrm>
            <a:off x="2606040" y="3063240"/>
            <a:ext cx="1371600" cy="1325880"/>
          </a:xfrm>
          <a:prstGeom prst="rect">
            <a:avLst/>
          </a:prstGeom>
          <a:solidFill>
            <a:srgbClr val="E8730C"/>
          </a:solidFill>
          <a:ln w="12700">
            <a:solidFill>
              <a:srgbClr val="FFFFFF"/>
            </a:solidFill>
            <a:prstDash val="solid"/>
          </a:ln>
        </p:spPr>
      </p:sp>
      <p:sp>
        <p:nvSpPr>
          <p:cNvPr id="15" name="Text 13"/>
          <p:cNvSpPr txBox="1"/>
          <p:nvPr/>
        </p:nvSpPr>
        <p:spPr>
          <a:xfrm>
            <a:off x="2606040" y="3063240"/>
            <a:ext cx="1371600" cy="1325880"/>
          </a:xfrm>
          <a:prstGeom prst="rect">
            <a:avLst/>
          </a:prstGeom>
          <a:noFill/>
          <a:ln/>
        </p:spPr>
        <p:txBody>
          <a:bodyPr wrap="square" lIns="0" tIns="0" rIns="0" bIns="0" rtlCol="0" anchor="ctr"/>
          <a:lstStyle/>
          <a:p>
            <a:pPr marL="0" indent="0" algn="ctr">
              <a:buNone/>
            </a:pPr>
            <a:r>
              <a:rPr lang="en-US" sz="3000" b="1" dirty="0">
                <a:solidFill>
                  <a:srgbClr val="FFFFFF"/>
                </a:solidFill>
                <a:latin typeface="+mn-lt" pitchFamily="34" charset="0"/>
                <a:ea typeface="+mn-lt" pitchFamily="34" charset="-122"/>
                <a:cs typeface="+mn-lt" pitchFamily="34" charset="-120"/>
              </a:rPr>
              <a:t>53</a:t>
            </a:r>
            <a:endParaRPr lang="en-US" sz="3000" dirty="0"/>
          </a:p>
        </p:txBody>
      </p:sp>
      <p:sp>
        <p:nvSpPr>
          <p:cNvPr id="16" name="card"/>
          <p:cNvSpPr/>
          <p:nvPr/>
        </p:nvSpPr>
        <p:spPr>
          <a:xfrm>
            <a:off x="4297680" y="1188720"/>
            <a:ext cx="2103120" cy="1051560"/>
          </a:xfrm>
          <a:prstGeom prst="roundRect">
            <a:avLst>
              <a:gd name="adj" fmla="val 6957"/>
            </a:avLst>
          </a:prstGeom>
          <a:solidFill>
            <a:schemeClr val="bg2"/>
          </a:solidFill>
          <a:ln w="12700">
            <a:solidFill>
              <a:schemeClr val="bg2"/>
            </a:solidFill>
            <a:prstDash val="solid"/>
          </a:ln>
        </p:spPr>
      </p:sp>
      <p:sp>
        <p:nvSpPr>
          <p:cNvPr id="17" name="Text 15"/>
          <p:cNvSpPr txBox="1"/>
          <p:nvPr/>
        </p:nvSpPr>
        <p:spPr>
          <a:xfrm>
            <a:off x="4434840" y="1280160"/>
            <a:ext cx="1828800" cy="594360"/>
          </a:xfrm>
          <a:prstGeom prst="rect">
            <a:avLst/>
          </a:prstGeom>
          <a:noFill/>
          <a:ln/>
        </p:spPr>
        <p:txBody>
          <a:bodyPr wrap="square" lIns="0" tIns="0" rIns="0" bIns="0" rtlCol="0" anchor="ctr"/>
          <a:lstStyle/>
          <a:p>
            <a:pPr marL="0" indent="0">
              <a:buNone/>
            </a:pPr>
            <a:r>
              <a:rPr lang="en-US" sz="2800" b="1" dirty="0">
                <a:solidFill>
                  <a:schemeClr val="accent1"/>
                </a:solidFill>
                <a:latin typeface="+mn-lt" pitchFamily="34" charset="0"/>
                <a:ea typeface="+mn-lt" pitchFamily="34" charset="-122"/>
                <a:cs typeface="+mn-lt" pitchFamily="34" charset="-120"/>
              </a:rPr>
              <a:t>98.55%</a:t>
            </a:r>
            <a:endParaRPr lang="en-US" sz="2800" dirty="0"/>
          </a:p>
        </p:txBody>
      </p:sp>
      <p:sp>
        <p:nvSpPr>
          <p:cNvPr id="18" name="Text 16"/>
          <p:cNvSpPr txBox="1"/>
          <p:nvPr/>
        </p:nvSpPr>
        <p:spPr>
          <a:xfrm>
            <a:off x="4434840" y="1874520"/>
            <a:ext cx="182880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Accuracy</a:t>
            </a:r>
            <a:endParaRPr lang="en-US" sz="1300" dirty="0"/>
          </a:p>
        </p:txBody>
      </p:sp>
      <p:sp>
        <p:nvSpPr>
          <p:cNvPr id="19" name="card"/>
          <p:cNvSpPr/>
          <p:nvPr/>
        </p:nvSpPr>
        <p:spPr>
          <a:xfrm>
            <a:off x="6537960" y="1188720"/>
            <a:ext cx="2103120" cy="1051560"/>
          </a:xfrm>
          <a:prstGeom prst="roundRect">
            <a:avLst>
              <a:gd name="adj" fmla="val 6957"/>
            </a:avLst>
          </a:prstGeom>
          <a:solidFill>
            <a:schemeClr val="bg2"/>
          </a:solidFill>
          <a:ln w="12700">
            <a:solidFill>
              <a:schemeClr val="bg2"/>
            </a:solidFill>
            <a:prstDash val="solid"/>
          </a:ln>
        </p:spPr>
      </p:sp>
      <p:sp>
        <p:nvSpPr>
          <p:cNvPr id="20" name="Text 18"/>
          <p:cNvSpPr txBox="1"/>
          <p:nvPr/>
        </p:nvSpPr>
        <p:spPr>
          <a:xfrm>
            <a:off x="6675120" y="1280160"/>
            <a:ext cx="1828800" cy="594360"/>
          </a:xfrm>
          <a:prstGeom prst="rect">
            <a:avLst/>
          </a:prstGeom>
          <a:noFill/>
          <a:ln/>
        </p:spPr>
        <p:txBody>
          <a:bodyPr wrap="square" lIns="0" tIns="0" rIns="0" bIns="0" rtlCol="0" anchor="ctr"/>
          <a:lstStyle/>
          <a:p>
            <a:pPr marL="0" indent="0">
              <a:buNone/>
            </a:pPr>
            <a:r>
              <a:rPr lang="en-US" sz="2800" b="1" dirty="0">
                <a:solidFill>
                  <a:schemeClr val="accent1"/>
                </a:solidFill>
                <a:latin typeface="+mn-lt" pitchFamily="34" charset="0"/>
                <a:ea typeface="+mn-lt" pitchFamily="34" charset="-122"/>
                <a:cs typeface="+mn-lt" pitchFamily="34" charset="-120"/>
              </a:rPr>
              <a:t>79.1%</a:t>
            </a:r>
            <a:endParaRPr lang="en-US" sz="2800" dirty="0"/>
          </a:p>
        </p:txBody>
      </p:sp>
      <p:sp>
        <p:nvSpPr>
          <p:cNvPr id="21" name="Text 19"/>
          <p:cNvSpPr txBox="1"/>
          <p:nvPr/>
        </p:nvSpPr>
        <p:spPr>
          <a:xfrm>
            <a:off x="6675120" y="1874520"/>
            <a:ext cx="182880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Precision</a:t>
            </a:r>
            <a:endParaRPr lang="en-US" sz="1300" dirty="0"/>
          </a:p>
        </p:txBody>
      </p:sp>
      <p:sp>
        <p:nvSpPr>
          <p:cNvPr id="22" name="card"/>
          <p:cNvSpPr/>
          <p:nvPr/>
        </p:nvSpPr>
        <p:spPr>
          <a:xfrm>
            <a:off x="4297680" y="2377440"/>
            <a:ext cx="2103120" cy="1051560"/>
          </a:xfrm>
          <a:prstGeom prst="roundRect">
            <a:avLst>
              <a:gd name="adj" fmla="val 6957"/>
            </a:avLst>
          </a:prstGeom>
          <a:solidFill>
            <a:schemeClr val="bg2"/>
          </a:solidFill>
          <a:ln w="12700">
            <a:solidFill>
              <a:schemeClr val="bg2"/>
            </a:solidFill>
            <a:prstDash val="solid"/>
          </a:ln>
        </p:spPr>
      </p:sp>
      <p:sp>
        <p:nvSpPr>
          <p:cNvPr id="23" name="Text 21"/>
          <p:cNvSpPr txBox="1"/>
          <p:nvPr/>
        </p:nvSpPr>
        <p:spPr>
          <a:xfrm>
            <a:off x="4434840" y="2468880"/>
            <a:ext cx="1828800" cy="594360"/>
          </a:xfrm>
          <a:prstGeom prst="rect">
            <a:avLst/>
          </a:prstGeom>
          <a:noFill/>
          <a:ln/>
        </p:spPr>
        <p:txBody>
          <a:bodyPr wrap="square" lIns="0" tIns="0" rIns="0" bIns="0" rtlCol="0" anchor="ctr"/>
          <a:lstStyle/>
          <a:p>
            <a:pPr marL="0" indent="0">
              <a:buNone/>
            </a:pPr>
            <a:r>
              <a:rPr lang="en-US" sz="2800" b="1" dirty="0">
                <a:solidFill>
                  <a:schemeClr val="accent1"/>
                </a:solidFill>
                <a:latin typeface="+mn-lt" pitchFamily="34" charset="0"/>
                <a:ea typeface="+mn-lt" pitchFamily="34" charset="-122"/>
                <a:cs typeface="+mn-lt" pitchFamily="34" charset="-120"/>
              </a:rPr>
              <a:t>77.9%</a:t>
            </a:r>
            <a:endParaRPr lang="en-US" sz="2800" dirty="0"/>
          </a:p>
        </p:txBody>
      </p:sp>
      <p:sp>
        <p:nvSpPr>
          <p:cNvPr id="24" name="Text 22"/>
          <p:cNvSpPr txBox="1"/>
          <p:nvPr/>
        </p:nvSpPr>
        <p:spPr>
          <a:xfrm>
            <a:off x="4434840" y="3063240"/>
            <a:ext cx="182880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Recall</a:t>
            </a:r>
            <a:endParaRPr lang="en-US" sz="1300" dirty="0"/>
          </a:p>
        </p:txBody>
      </p:sp>
      <p:sp>
        <p:nvSpPr>
          <p:cNvPr id="25" name="card"/>
          <p:cNvSpPr/>
          <p:nvPr/>
        </p:nvSpPr>
        <p:spPr>
          <a:xfrm>
            <a:off x="6537960" y="2377440"/>
            <a:ext cx="2103120" cy="1051560"/>
          </a:xfrm>
          <a:prstGeom prst="roundRect">
            <a:avLst>
              <a:gd name="adj" fmla="val 6957"/>
            </a:avLst>
          </a:prstGeom>
          <a:solidFill>
            <a:schemeClr val="bg2"/>
          </a:solidFill>
          <a:ln w="12700">
            <a:solidFill>
              <a:schemeClr val="bg2"/>
            </a:solidFill>
            <a:prstDash val="solid"/>
          </a:ln>
        </p:spPr>
      </p:sp>
      <p:sp>
        <p:nvSpPr>
          <p:cNvPr id="26" name="Text 24"/>
          <p:cNvSpPr txBox="1"/>
          <p:nvPr/>
        </p:nvSpPr>
        <p:spPr>
          <a:xfrm>
            <a:off x="6675120" y="2468880"/>
            <a:ext cx="1828800" cy="594360"/>
          </a:xfrm>
          <a:prstGeom prst="rect">
            <a:avLst/>
          </a:prstGeom>
          <a:noFill/>
          <a:ln/>
        </p:spPr>
        <p:txBody>
          <a:bodyPr wrap="square" lIns="0" tIns="0" rIns="0" bIns="0" rtlCol="0" anchor="ctr"/>
          <a:lstStyle/>
          <a:p>
            <a:pPr marL="0" indent="0">
              <a:buNone/>
            </a:pPr>
            <a:r>
              <a:rPr lang="en-US" sz="2800" b="1" dirty="0">
                <a:solidFill>
                  <a:schemeClr val="accent1"/>
                </a:solidFill>
                <a:latin typeface="+mn-lt" pitchFamily="34" charset="0"/>
                <a:ea typeface="+mn-lt" pitchFamily="34" charset="-122"/>
                <a:cs typeface="+mn-lt" pitchFamily="34" charset="-120"/>
              </a:rPr>
              <a:t>78.5%</a:t>
            </a:r>
            <a:endParaRPr lang="en-US" sz="2800" dirty="0"/>
          </a:p>
        </p:txBody>
      </p:sp>
      <p:sp>
        <p:nvSpPr>
          <p:cNvPr id="27" name="Text 25"/>
          <p:cNvSpPr txBox="1"/>
          <p:nvPr/>
        </p:nvSpPr>
        <p:spPr>
          <a:xfrm>
            <a:off x="6675120" y="3063240"/>
            <a:ext cx="1828800" cy="274320"/>
          </a:xfrm>
          <a:prstGeom prst="rect">
            <a:avLst/>
          </a:prstGeom>
          <a:noFill/>
          <a:ln/>
        </p:spPr>
        <p:txBody>
          <a:bodyPr wrap="square" lIns="0" tIns="0" rIns="0" bIns="0" rtlCol="0" anchor="ctr"/>
          <a:lstStyle/>
          <a:p>
            <a:pPr marL="0" indent="0">
              <a:buNone/>
            </a:pPr>
            <a:r>
              <a:rPr lang="en-US" sz="1300" dirty="0">
                <a:solidFill>
                  <a:schemeClr val="accent3"/>
                </a:solidFill>
                <a:latin typeface="+mn-lt" pitchFamily="34" charset="0"/>
                <a:ea typeface="+mn-lt" pitchFamily="34" charset="-122"/>
                <a:cs typeface="+mn-lt" pitchFamily="34" charset="-120"/>
              </a:rPr>
              <a:t>F1-score</a:t>
            </a:r>
            <a:endParaRPr lang="en-US" sz="1300" dirty="0"/>
          </a:p>
        </p:txBody>
      </p:sp>
      <p:sp>
        <p:nvSpPr>
          <p:cNvPr id="28" name="Text 26"/>
          <p:cNvSpPr txBox="1"/>
          <p:nvPr/>
        </p:nvSpPr>
        <p:spPr>
          <a:xfrm>
            <a:off x="4297680" y="3611880"/>
            <a:ext cx="438912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Why this model</a:t>
            </a:r>
            <a:endParaRPr lang="en-US" sz="1400" dirty="0"/>
          </a:p>
        </p:txBody>
      </p:sp>
      <p:sp>
        <p:nvSpPr>
          <p:cNvPr id="29" name="Text 27"/>
          <p:cNvSpPr txBox="1"/>
          <p:nvPr/>
        </p:nvSpPr>
        <p:spPr>
          <a:xfrm>
            <a:off x="4297680" y="3913632"/>
            <a:ext cx="4389120" cy="8686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latin typeface="+mn-lt" pitchFamily="34" charset="0"/>
                <a:ea typeface="+mn-lt" pitchFamily="34" charset="-122"/>
                <a:cs typeface="+mn-lt" pitchFamily="34" charset="-120"/>
              </a:rPr>
              <a:t>Best recall and F1 of all models</a:t>
            </a:r>
            <a:endParaRPr lang="en-US" sz="1300" dirty="0"/>
          </a:p>
          <a:p>
            <a:pPr marL="342900" indent="-342900">
              <a:spcAft>
                <a:spcPts val="300"/>
              </a:spcAft>
              <a:buSzPct val="100000"/>
              <a:buChar char="•"/>
            </a:pPr>
            <a:r>
              <a:rPr lang="en-US" sz="1300" dirty="0">
                <a:solidFill>
                  <a:schemeClr val="tx1"/>
                </a:solidFill>
                <a:latin typeface="+mn-lt" pitchFamily="34" charset="0"/>
                <a:ea typeface="+mn-lt" pitchFamily="34" charset="-122"/>
                <a:cs typeface="+mn-lt" pitchFamily="34" charset="-120"/>
              </a:rPr>
              <a:t>Rules engineers can read and trust</a:t>
            </a:r>
            <a:endParaRPr lang="en-US" sz="1300" dirty="0"/>
          </a:p>
          <a:p>
            <a:pPr marL="342900" indent="-342900">
              <a:spcAft>
                <a:spcPts val="300"/>
              </a:spcAft>
              <a:buSzPct val="100000"/>
              <a:buChar char="•"/>
            </a:pPr>
            <a:r>
              <a:rPr lang="en-US" sz="1300" dirty="0">
                <a:solidFill>
                  <a:schemeClr val="tx1"/>
                </a:solidFill>
                <a:latin typeface="+mn-lt" pitchFamily="34" charset="0"/>
                <a:ea typeface="+mn-lt" pitchFamily="34" charset="-122"/>
                <a:cs typeface="+mn-lt" pitchFamily="34" charset="-120"/>
              </a:rPr>
              <a:t>Generalises: 99.0% train vs 98.6% test</a:t>
            </a:r>
            <a:endParaRPr lang="en-US" sz="1300" dirty="0"/>
          </a:p>
        </p:txBody>
      </p:sp>
      <p:sp>
        <p:nvSpPr>
          <p:cNvPr id="30"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It ranks risky machines well</a:t>
            </a:r>
            <a:endParaRPr lang="en-US" sz="3200" dirty="0"/>
          </a:p>
        </p:txBody>
      </p:sp>
      <p:pic>
        <p:nvPicPr>
          <p:cNvPr id="3" name="Image 0" descr="ROC curve (AUC 0.918) and precision-recall curve (AP 0.754) of the tuned Decision Tree"/>
          <p:cNvPicPr>
            <a:picLocks noChangeAspect="1"/>
          </p:cNvPicPr>
          <p:nvPr/>
        </p:nvPicPr>
        <p:blipFill>
          <a:blip r:embed="rId3"/>
          <a:stretch>
            <a:fillRect/>
          </a:stretch>
        </p:blipFill>
        <p:spPr>
          <a:xfrm>
            <a:off x="365760" y="1371600"/>
            <a:ext cx="5760720" cy="2148840"/>
          </a:xfrm>
          <a:prstGeom prst="rect">
            <a:avLst/>
          </a:prstGeom>
        </p:spPr>
      </p:pic>
      <p:sp>
        <p:nvSpPr>
          <p:cNvPr id="4" name="Text 1"/>
          <p:cNvSpPr txBox="1"/>
          <p:nvPr/>
        </p:nvSpPr>
        <p:spPr>
          <a:xfrm>
            <a:off x="365760" y="3611880"/>
            <a:ext cx="5760720" cy="274320"/>
          </a:xfrm>
          <a:prstGeom prst="rect">
            <a:avLst/>
          </a:prstGeom>
          <a:noFill/>
          <a:ln/>
        </p:spPr>
        <p:txBody>
          <a:bodyPr wrap="square" lIns="0" tIns="0" rIns="0" bIns="0" rtlCol="0" anchor="ctr"/>
          <a:lstStyle/>
          <a:p>
            <a:pPr marL="0" indent="0">
              <a:buNone/>
            </a:pPr>
            <a:r>
              <a:rPr lang="en-US" sz="1200" dirty="0">
                <a:solidFill>
                  <a:schemeClr val="accent3"/>
                </a:solidFill>
                <a:latin typeface="+mn-lt" pitchFamily="34" charset="0"/>
                <a:ea typeface="+mn-lt" pitchFamily="34" charset="-122"/>
                <a:cs typeface="+mn-lt" pitchFamily="34" charset="-120"/>
              </a:rPr>
              <a:t>Left: ROC curve · Right: precision–recall curve</a:t>
            </a:r>
            <a:endParaRPr lang="en-US" sz="1200" dirty="0"/>
          </a:p>
        </p:txBody>
      </p:sp>
      <p:sp>
        <p:nvSpPr>
          <p:cNvPr id="5" name="card"/>
          <p:cNvSpPr/>
          <p:nvPr/>
        </p:nvSpPr>
        <p:spPr>
          <a:xfrm>
            <a:off x="6400800" y="1188720"/>
            <a:ext cx="2286000" cy="1554480"/>
          </a:xfrm>
          <a:prstGeom prst="roundRect">
            <a:avLst>
              <a:gd name="adj" fmla="val 4706"/>
            </a:avLst>
          </a:prstGeom>
          <a:solidFill>
            <a:schemeClr val="bg2"/>
          </a:solidFill>
          <a:ln w="12700">
            <a:solidFill>
              <a:schemeClr val="bg2"/>
            </a:solidFill>
            <a:prstDash val="solid"/>
          </a:ln>
        </p:spPr>
      </p:sp>
      <p:sp>
        <p:nvSpPr>
          <p:cNvPr id="6" name="Text 3"/>
          <p:cNvSpPr txBox="1"/>
          <p:nvPr/>
        </p:nvSpPr>
        <p:spPr>
          <a:xfrm>
            <a:off x="6583680" y="1325880"/>
            <a:ext cx="1920240" cy="73152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0.918</a:t>
            </a:r>
            <a:endParaRPr lang="en-US" sz="4000" dirty="0"/>
          </a:p>
        </p:txBody>
      </p:sp>
      <p:sp>
        <p:nvSpPr>
          <p:cNvPr id="7" name="Text 4"/>
          <p:cNvSpPr txBox="1"/>
          <p:nvPr/>
        </p:nvSpPr>
        <p:spPr>
          <a:xfrm>
            <a:off x="6583680" y="2057400"/>
            <a:ext cx="192024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ROC-AUC</a:t>
            </a:r>
            <a:endParaRPr lang="en-US" sz="1400" dirty="0"/>
          </a:p>
        </p:txBody>
      </p:sp>
      <p:sp>
        <p:nvSpPr>
          <p:cNvPr id="8" name="card"/>
          <p:cNvSpPr/>
          <p:nvPr/>
        </p:nvSpPr>
        <p:spPr>
          <a:xfrm>
            <a:off x="6400800" y="2926080"/>
            <a:ext cx="2286000" cy="1554480"/>
          </a:xfrm>
          <a:prstGeom prst="roundRect">
            <a:avLst>
              <a:gd name="adj" fmla="val 4706"/>
            </a:avLst>
          </a:prstGeom>
          <a:solidFill>
            <a:schemeClr val="bg2"/>
          </a:solidFill>
          <a:ln w="12700">
            <a:solidFill>
              <a:schemeClr val="bg2"/>
            </a:solidFill>
            <a:prstDash val="solid"/>
          </a:ln>
        </p:spPr>
      </p:sp>
      <p:sp>
        <p:nvSpPr>
          <p:cNvPr id="9" name="Text 6"/>
          <p:cNvSpPr txBox="1"/>
          <p:nvPr/>
        </p:nvSpPr>
        <p:spPr>
          <a:xfrm>
            <a:off x="6583680" y="3063240"/>
            <a:ext cx="1920240" cy="731520"/>
          </a:xfrm>
          <a:prstGeom prst="rect">
            <a:avLst/>
          </a:prstGeom>
          <a:noFill/>
          <a:ln/>
        </p:spPr>
        <p:txBody>
          <a:bodyPr wrap="square" lIns="0" tIns="0" rIns="0" bIns="0" rtlCol="0" anchor="ctr"/>
          <a:lstStyle/>
          <a:p>
            <a:pPr marL="0" indent="0">
              <a:buNone/>
            </a:pPr>
            <a:r>
              <a:rPr lang="en-US" sz="4000" b="1" dirty="0">
                <a:solidFill>
                  <a:schemeClr val="accent1"/>
                </a:solidFill>
                <a:latin typeface="+mn-lt" pitchFamily="34" charset="0"/>
                <a:ea typeface="+mn-lt" pitchFamily="34" charset="-122"/>
                <a:cs typeface="+mn-lt" pitchFamily="34" charset="-120"/>
              </a:rPr>
              <a:t>0.754</a:t>
            </a:r>
            <a:endParaRPr lang="en-US" sz="4000" dirty="0"/>
          </a:p>
        </p:txBody>
      </p:sp>
      <p:sp>
        <p:nvSpPr>
          <p:cNvPr id="10" name="Text 7"/>
          <p:cNvSpPr txBox="1"/>
          <p:nvPr/>
        </p:nvSpPr>
        <p:spPr>
          <a:xfrm>
            <a:off x="6583680" y="3794760"/>
            <a:ext cx="192024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Average precision</a:t>
            </a:r>
            <a:endParaRPr lang="en-US" sz="1400" dirty="0"/>
          </a:p>
        </p:txBody>
      </p:sp>
      <p:sp>
        <p:nvSpPr>
          <p:cNvPr id="11" name="Text 8"/>
          <p:cNvSpPr txBox="1"/>
          <p:nvPr/>
        </p:nvSpPr>
        <p:spPr>
          <a:xfrm>
            <a:off x="6583680" y="4069080"/>
            <a:ext cx="1920240" cy="274320"/>
          </a:xfrm>
          <a:prstGeom prst="rect">
            <a:avLst/>
          </a:prstGeom>
          <a:noFill/>
          <a:ln/>
        </p:spPr>
        <p:txBody>
          <a:bodyPr wrap="square" lIns="0" tIns="0" rIns="0" bIns="0" rtlCol="0" anchor="ctr"/>
          <a:lstStyle/>
          <a:p>
            <a:pPr marL="0" indent="0">
              <a:buNone/>
            </a:pPr>
            <a:r>
              <a:rPr lang="en-US" sz="1100" dirty="0">
                <a:solidFill>
                  <a:schemeClr val="accent3"/>
                </a:solidFill>
                <a:latin typeface="+mn-lt" pitchFamily="34" charset="0"/>
                <a:ea typeface="+mn-lt" pitchFamily="34" charset="-122"/>
                <a:cs typeface="+mn-lt" pitchFamily="34" charset="-120"/>
              </a:rPr>
              <a:t>vs 0.034 failure prevalence</a:t>
            </a:r>
            <a:endParaRPr lang="en-US" sz="1100" dirty="0"/>
          </a:p>
        </p:txBody>
      </p:sp>
      <p:sp>
        <p:nvSpPr>
          <p:cNvPr id="12" name="Text 9"/>
          <p:cNvSpPr txBox="1"/>
          <p:nvPr/>
        </p:nvSpPr>
        <p:spPr>
          <a:xfrm>
            <a:off x="365760" y="4023360"/>
            <a:ext cx="5760720" cy="548640"/>
          </a:xfrm>
          <a:prstGeom prst="rect">
            <a:avLst/>
          </a:prstGeom>
          <a:noFill/>
          <a:ln/>
        </p:spPr>
        <p:txBody>
          <a:bodyPr wrap="square" lIns="0" tIns="0" rIns="0" bIns="0" rtlCol="0" anchor="t"/>
          <a:lstStyle/>
          <a:p>
            <a:pPr marL="0" indent="0">
              <a:buNone/>
            </a:pPr>
            <a:r>
              <a:rPr lang="en-US" sz="1400" dirty="0">
                <a:solidFill>
                  <a:schemeClr val="accent3"/>
                </a:solidFill>
                <a:latin typeface="+mn-lt" pitchFamily="34" charset="0"/>
                <a:ea typeface="+mn-lt" pitchFamily="34" charset="-122"/>
                <a:cs typeface="+mn-lt" pitchFamily="34" charset="-120"/>
              </a:rPr>
              <a:t>Average precision is over 20× the baseline — the benchmark that matters for rare failures.</a:t>
            </a:r>
            <a:endParaRPr lang="en-US" sz="14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What drives the predictions</a:t>
            </a:r>
            <a:endParaRPr lang="en-US" sz="3200" dirty="0"/>
          </a:p>
        </p:txBody>
      </p:sp>
      <p:graphicFrame>
        <p:nvGraphicFramePr>
          <p:cNvPr id="3" name="Chart 0"/>
          <p:cNvGraphicFramePr/>
          <p:nvPr/>
        </p:nvGraphicFramePr>
        <p:xfrm>
          <a:off x="365760" y="1097280"/>
          <a:ext cx="52120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852160" y="1188720"/>
            <a:ext cx="2834640" cy="100584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5989320" y="1280160"/>
            <a:ext cx="2560320" cy="320040"/>
          </a:xfrm>
          <a:prstGeom prst="rect">
            <a:avLst/>
          </a:prstGeom>
          <a:noFill/>
          <a:ln/>
        </p:spPr>
        <p:txBody>
          <a:bodyPr wrap="square" lIns="0" tIns="0" rIns="0" bIns="0" rtlCol="0" anchor="ctr"/>
          <a:lstStyle/>
          <a:p>
            <a:pPr marL="0" indent="0">
              <a:buNone/>
            </a:pPr>
            <a:r>
              <a:rPr lang="en-US" sz="1500" b="1" dirty="0">
                <a:solidFill>
                  <a:schemeClr val="accent1"/>
                </a:solidFill>
                <a:latin typeface="+mn-lt" pitchFamily="34" charset="0"/>
                <a:ea typeface="+mn-lt" pitchFamily="34" charset="-122"/>
                <a:cs typeface="+mn-lt" pitchFamily="34" charset="-120"/>
              </a:rPr>
              <a:t>Torque dominates</a:t>
            </a:r>
            <a:endParaRPr lang="en-US" sz="1500" dirty="0"/>
          </a:p>
        </p:txBody>
      </p:sp>
      <p:sp>
        <p:nvSpPr>
          <p:cNvPr id="6" name="Text 3"/>
          <p:cNvSpPr txBox="1"/>
          <p:nvPr/>
        </p:nvSpPr>
        <p:spPr>
          <a:xfrm>
            <a:off x="5989320" y="1645920"/>
            <a:ext cx="256032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The strongest signal by a wide margin</a:t>
            </a:r>
            <a:endParaRPr lang="en-US" sz="1200" dirty="0"/>
          </a:p>
        </p:txBody>
      </p:sp>
      <p:sp>
        <p:nvSpPr>
          <p:cNvPr id="7" name="card"/>
          <p:cNvSpPr/>
          <p:nvPr/>
        </p:nvSpPr>
        <p:spPr>
          <a:xfrm>
            <a:off x="5852160" y="2331720"/>
            <a:ext cx="2834640" cy="100584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5989320" y="2423160"/>
            <a:ext cx="256032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Tool wear is second</a:t>
            </a:r>
            <a:endParaRPr lang="en-US" sz="1500" dirty="0"/>
          </a:p>
        </p:txBody>
      </p:sp>
      <p:sp>
        <p:nvSpPr>
          <p:cNvPr id="9" name="Text 6"/>
          <p:cNvSpPr txBox="1"/>
          <p:nvPr/>
        </p:nvSpPr>
        <p:spPr>
          <a:xfrm>
            <a:off x="5989320" y="2788920"/>
            <a:ext cx="256032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Consistent with the failure-mode analysis</a:t>
            </a:r>
            <a:endParaRPr lang="en-US" sz="1200" dirty="0"/>
          </a:p>
        </p:txBody>
      </p:sp>
      <p:sp>
        <p:nvSpPr>
          <p:cNvPr id="10" name="card"/>
          <p:cNvSpPr/>
          <p:nvPr/>
        </p:nvSpPr>
        <p:spPr>
          <a:xfrm>
            <a:off x="5852160" y="3474720"/>
            <a:ext cx="2834640"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5989320" y="3566160"/>
            <a:ext cx="2560320" cy="320040"/>
          </a:xfrm>
          <a:prstGeom prst="rect">
            <a:avLst/>
          </a:prstGeom>
          <a:noFill/>
          <a:ln/>
        </p:spPr>
        <p:txBody>
          <a:bodyPr wrap="square" lIns="0" tIns="0" rIns="0" bIns="0" rtlCol="0" anchor="ctr"/>
          <a:lstStyle/>
          <a:p>
            <a:pPr marL="0" indent="0">
              <a:buNone/>
            </a:pPr>
            <a:r>
              <a:rPr lang="en-US" sz="1500" b="1" dirty="0">
                <a:solidFill>
                  <a:schemeClr val="tx1"/>
                </a:solidFill>
                <a:latin typeface="+mn-lt" pitchFamily="34" charset="0"/>
                <a:ea typeface="+mn-lt" pitchFamily="34" charset="-122"/>
                <a:cs typeface="+mn-lt" pitchFamily="34" charset="-120"/>
              </a:rPr>
              <a:t>Product type barely matters</a:t>
            </a:r>
            <a:endParaRPr lang="en-US" sz="1500" dirty="0"/>
          </a:p>
        </p:txBody>
      </p:sp>
      <p:sp>
        <p:nvSpPr>
          <p:cNvPr id="12" name="Text 9"/>
          <p:cNvSpPr txBox="1"/>
          <p:nvPr/>
        </p:nvSpPr>
        <p:spPr>
          <a:xfrm>
            <a:off x="5989320" y="3931920"/>
            <a:ext cx="2560320" cy="45720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Temperatures play a minor role</a:t>
            </a:r>
            <a:endParaRPr lang="en-US" sz="1200" dirty="0"/>
          </a:p>
        </p:txBody>
      </p:sp>
      <p:sp>
        <p:nvSpPr>
          <p:cNvPr id="13" name="Text 10"/>
          <p:cNvSpPr txBox="1"/>
          <p:nvPr/>
        </p:nvSpPr>
        <p:spPr>
          <a:xfrm>
            <a:off x="5852160" y="4526280"/>
            <a:ext cx="2834640" cy="274320"/>
          </a:xfrm>
          <a:prstGeom prst="rect">
            <a:avLst/>
          </a:prstGeom>
          <a:noFill/>
          <a:ln/>
        </p:spPr>
        <p:txBody>
          <a:bodyPr wrap="square" lIns="0" tIns="0" rIns="0" bIns="0" rtlCol="0" anchor="ctr"/>
          <a:lstStyle/>
          <a:p>
            <a:pPr marL="0" indent="0">
              <a:buNone/>
            </a:pPr>
            <a:r>
              <a:rPr lang="en-US" sz="1000" dirty="0">
                <a:solidFill>
                  <a:schemeClr val="accent3"/>
                </a:solidFill>
                <a:latin typeface="+mn-lt" pitchFamily="34" charset="0"/>
                <a:ea typeface="+mn-lt" pitchFamily="34" charset="-122"/>
                <a:cs typeface="+mn-lt" pitchFamily="34" charset="-120"/>
              </a:rPr>
              <a:t>SHAP shows what the model relies on — an association, not proof of physical cause.</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From prediction to action</a:t>
            </a:r>
            <a:endParaRPr lang="en-US" sz="3200" dirty="0"/>
          </a:p>
        </p:txBody>
      </p:sp>
      <p:sp>
        <p:nvSpPr>
          <p:cNvPr id="3" name="flow"/>
          <p:cNvSpPr/>
          <p:nvPr/>
        </p:nvSpPr>
        <p:spPr>
          <a:xfrm>
            <a:off x="457200" y="1188720"/>
            <a:ext cx="1828800" cy="73152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457200" y="1188720"/>
            <a:ext cx="1828800" cy="731520"/>
          </a:xfrm>
          <a:prstGeom prst="rect">
            <a:avLst/>
          </a:prstGeom>
          <a:noFill/>
          <a:ln/>
        </p:spPr>
        <p:txBody>
          <a:bodyPr wrap="square" lIns="0" tIns="0" rIns="0" bIns="0" rtlCol="0" anchor="ctr"/>
          <a:lstStyle/>
          <a:p>
            <a:pPr marL="0" indent="0" algn="ctr">
              <a:buNone/>
            </a:pPr>
            <a:r>
              <a:rPr lang="en-US" sz="1400" b="1" dirty="0">
                <a:solidFill>
                  <a:schemeClr val="bg1"/>
                </a:solidFill>
                <a:latin typeface="+mn-lt" pitchFamily="34" charset="0"/>
                <a:ea typeface="+mn-lt" pitchFamily="34" charset="-122"/>
                <a:cs typeface="+mn-lt" pitchFamily="34" charset="-120"/>
              </a:rPr>
              <a:t>Sensor readings</a:t>
            </a:r>
            <a:endParaRPr lang="en-US" sz="1400" dirty="0"/>
          </a:p>
        </p:txBody>
      </p:sp>
      <p:sp>
        <p:nvSpPr>
          <p:cNvPr id="5" name="Text 3"/>
          <p:cNvSpPr txBox="1"/>
          <p:nvPr/>
        </p:nvSpPr>
        <p:spPr>
          <a:xfrm>
            <a:off x="2286000" y="1188720"/>
            <a:ext cx="274320" cy="731520"/>
          </a:xfrm>
          <a:prstGeom prst="rect">
            <a:avLst/>
          </a:prstGeom>
          <a:noFill/>
          <a:ln/>
        </p:spPr>
        <p:txBody>
          <a:bodyPr wrap="square" lIns="0" tIns="0" rIns="0" bIns="0" rtlCol="0" anchor="ctr"/>
          <a:lstStyle/>
          <a:p>
            <a:pPr marL="0" indent="0" algn="ctr">
              <a:buNone/>
            </a:pPr>
            <a:r>
              <a:rPr lang="en-US" sz="2800" b="1" dirty="0">
                <a:solidFill>
                  <a:schemeClr val="accent3"/>
                </a:solidFill>
                <a:latin typeface="+mn-lt" pitchFamily="34" charset="0"/>
                <a:ea typeface="+mn-lt" pitchFamily="34" charset="-122"/>
                <a:cs typeface="+mn-lt" pitchFamily="34" charset="-120"/>
              </a:rPr>
              <a:t>›</a:t>
            </a:r>
            <a:endParaRPr lang="en-US" sz="2800" dirty="0"/>
          </a:p>
        </p:txBody>
      </p:sp>
      <p:sp>
        <p:nvSpPr>
          <p:cNvPr id="6" name="flow"/>
          <p:cNvSpPr/>
          <p:nvPr/>
        </p:nvSpPr>
        <p:spPr>
          <a:xfrm>
            <a:off x="2560320" y="1188720"/>
            <a:ext cx="1828800" cy="731520"/>
          </a:xfrm>
          <a:prstGeom prst="roundRect">
            <a:avLst>
              <a:gd name="adj" fmla="val 10000"/>
            </a:avLst>
          </a:prstGeom>
          <a:solidFill>
            <a:schemeClr val="tx1"/>
          </a:solidFill>
          <a:ln w="12700">
            <a:solidFill>
              <a:schemeClr val="tx1"/>
            </a:solidFill>
            <a:prstDash val="solid"/>
          </a:ln>
        </p:spPr>
      </p:sp>
      <p:sp>
        <p:nvSpPr>
          <p:cNvPr id="7" name="Text 5"/>
          <p:cNvSpPr txBox="1"/>
          <p:nvPr/>
        </p:nvSpPr>
        <p:spPr>
          <a:xfrm>
            <a:off x="2560320" y="1188720"/>
            <a:ext cx="1828800" cy="731520"/>
          </a:xfrm>
          <a:prstGeom prst="rect">
            <a:avLst/>
          </a:prstGeom>
          <a:noFill/>
          <a:ln/>
        </p:spPr>
        <p:txBody>
          <a:bodyPr wrap="square" lIns="0" tIns="0" rIns="0" bIns="0" rtlCol="0" anchor="ctr"/>
          <a:lstStyle/>
          <a:p>
            <a:pPr marL="0" indent="0" algn="ctr">
              <a:buNone/>
            </a:pPr>
            <a:r>
              <a:rPr lang="en-US" sz="1400" b="1" dirty="0">
                <a:solidFill>
                  <a:schemeClr val="bg1"/>
                </a:solidFill>
                <a:latin typeface="+mn-lt" pitchFamily="34" charset="0"/>
                <a:ea typeface="+mn-lt" pitchFamily="34" charset="-122"/>
                <a:cs typeface="+mn-lt" pitchFamily="34" charset="-120"/>
              </a:rPr>
              <a:t>Failure model</a:t>
            </a:r>
            <a:endParaRPr lang="en-US" sz="1400" dirty="0"/>
          </a:p>
        </p:txBody>
      </p:sp>
      <p:sp>
        <p:nvSpPr>
          <p:cNvPr id="8" name="Text 6"/>
          <p:cNvSpPr txBox="1"/>
          <p:nvPr/>
        </p:nvSpPr>
        <p:spPr>
          <a:xfrm>
            <a:off x="4389120" y="1188720"/>
            <a:ext cx="274320" cy="731520"/>
          </a:xfrm>
          <a:prstGeom prst="rect">
            <a:avLst/>
          </a:prstGeom>
          <a:noFill/>
          <a:ln/>
        </p:spPr>
        <p:txBody>
          <a:bodyPr wrap="square" lIns="0" tIns="0" rIns="0" bIns="0" rtlCol="0" anchor="ctr"/>
          <a:lstStyle/>
          <a:p>
            <a:pPr marL="0" indent="0" algn="ctr">
              <a:buNone/>
            </a:pPr>
            <a:r>
              <a:rPr lang="en-US" sz="2800" b="1" dirty="0">
                <a:solidFill>
                  <a:schemeClr val="accent3"/>
                </a:solidFill>
                <a:latin typeface="+mn-lt" pitchFamily="34" charset="0"/>
                <a:ea typeface="+mn-lt" pitchFamily="34" charset="-122"/>
                <a:cs typeface="+mn-lt" pitchFamily="34" charset="-120"/>
              </a:rPr>
              <a:t>›</a:t>
            </a:r>
            <a:endParaRPr lang="en-US" sz="2800" dirty="0"/>
          </a:p>
        </p:txBody>
      </p:sp>
      <p:sp>
        <p:nvSpPr>
          <p:cNvPr id="9" name="flow"/>
          <p:cNvSpPr/>
          <p:nvPr/>
        </p:nvSpPr>
        <p:spPr>
          <a:xfrm>
            <a:off x="4663440" y="1188720"/>
            <a:ext cx="1828800" cy="731520"/>
          </a:xfrm>
          <a:prstGeom prst="roundRect">
            <a:avLst>
              <a:gd name="adj" fmla="val 10000"/>
            </a:avLst>
          </a:prstGeom>
          <a:solidFill>
            <a:schemeClr val="tx1"/>
          </a:solidFill>
          <a:ln w="12700">
            <a:solidFill>
              <a:schemeClr val="tx1"/>
            </a:solidFill>
            <a:prstDash val="solid"/>
          </a:ln>
        </p:spPr>
      </p:sp>
      <p:sp>
        <p:nvSpPr>
          <p:cNvPr id="10" name="Text 8"/>
          <p:cNvSpPr txBox="1"/>
          <p:nvPr/>
        </p:nvSpPr>
        <p:spPr>
          <a:xfrm>
            <a:off x="4663440" y="1188720"/>
            <a:ext cx="1828800" cy="731520"/>
          </a:xfrm>
          <a:prstGeom prst="rect">
            <a:avLst/>
          </a:prstGeom>
          <a:noFill/>
          <a:ln/>
        </p:spPr>
        <p:txBody>
          <a:bodyPr wrap="square" lIns="0" tIns="0" rIns="0" bIns="0" rtlCol="0" anchor="ctr"/>
          <a:lstStyle/>
          <a:p>
            <a:pPr marL="0" indent="0" algn="ctr">
              <a:buNone/>
            </a:pPr>
            <a:r>
              <a:rPr lang="en-US" sz="1400" b="1" dirty="0">
                <a:solidFill>
                  <a:schemeClr val="bg1"/>
                </a:solidFill>
                <a:latin typeface="+mn-lt" pitchFamily="34" charset="0"/>
                <a:ea typeface="+mn-lt" pitchFamily="34" charset="-122"/>
                <a:cs typeface="+mn-lt" pitchFamily="34" charset="-120"/>
              </a:rPr>
              <a:t>Risk flag</a:t>
            </a:r>
            <a:endParaRPr lang="en-US" sz="1400" dirty="0"/>
          </a:p>
        </p:txBody>
      </p:sp>
      <p:sp>
        <p:nvSpPr>
          <p:cNvPr id="11" name="Text 9"/>
          <p:cNvSpPr txBox="1"/>
          <p:nvPr/>
        </p:nvSpPr>
        <p:spPr>
          <a:xfrm>
            <a:off x="6492240" y="1188720"/>
            <a:ext cx="274320" cy="731520"/>
          </a:xfrm>
          <a:prstGeom prst="rect">
            <a:avLst/>
          </a:prstGeom>
          <a:noFill/>
          <a:ln/>
        </p:spPr>
        <p:txBody>
          <a:bodyPr wrap="square" lIns="0" tIns="0" rIns="0" bIns="0" rtlCol="0" anchor="ctr"/>
          <a:lstStyle/>
          <a:p>
            <a:pPr marL="0" indent="0" algn="ctr">
              <a:buNone/>
            </a:pPr>
            <a:r>
              <a:rPr lang="en-US" sz="2800" b="1" dirty="0">
                <a:solidFill>
                  <a:schemeClr val="accent3"/>
                </a:solidFill>
                <a:latin typeface="+mn-lt" pitchFamily="34" charset="0"/>
                <a:ea typeface="+mn-lt" pitchFamily="34" charset="-122"/>
                <a:cs typeface="+mn-lt" pitchFamily="34" charset="-120"/>
              </a:rPr>
              <a:t>›</a:t>
            </a:r>
            <a:endParaRPr lang="en-US" sz="2800" dirty="0"/>
          </a:p>
        </p:txBody>
      </p:sp>
      <p:sp>
        <p:nvSpPr>
          <p:cNvPr id="12" name="flow"/>
          <p:cNvSpPr/>
          <p:nvPr/>
        </p:nvSpPr>
        <p:spPr>
          <a:xfrm>
            <a:off x="6766560" y="1188720"/>
            <a:ext cx="1828800" cy="731520"/>
          </a:xfrm>
          <a:prstGeom prst="roundRect">
            <a:avLst>
              <a:gd name="adj" fmla="val 10000"/>
            </a:avLst>
          </a:prstGeom>
          <a:solidFill>
            <a:schemeClr val="accent1"/>
          </a:solidFill>
          <a:ln w="12700">
            <a:solidFill>
              <a:schemeClr val="accent1"/>
            </a:solidFill>
            <a:prstDash val="solid"/>
          </a:ln>
        </p:spPr>
      </p:sp>
      <p:sp>
        <p:nvSpPr>
          <p:cNvPr id="13" name="Text 11"/>
          <p:cNvSpPr txBox="1"/>
          <p:nvPr/>
        </p:nvSpPr>
        <p:spPr>
          <a:xfrm>
            <a:off x="6766560" y="1188720"/>
            <a:ext cx="1828800" cy="731520"/>
          </a:xfrm>
          <a:prstGeom prst="rect">
            <a:avLst/>
          </a:prstGeom>
          <a:noFill/>
          <a:ln/>
        </p:spPr>
        <p:txBody>
          <a:bodyPr wrap="square" lIns="0" tIns="0" rIns="0" bIns="0" rtlCol="0" anchor="ctr"/>
          <a:lstStyle/>
          <a:p>
            <a:pPr marL="0" indent="0" algn="ctr">
              <a:buNone/>
            </a:pPr>
            <a:r>
              <a:rPr lang="en-US" sz="1400" b="1" dirty="0">
                <a:solidFill>
                  <a:schemeClr val="bg1"/>
                </a:solidFill>
                <a:latin typeface="+mn-lt" pitchFamily="34" charset="0"/>
                <a:ea typeface="+mn-lt" pitchFamily="34" charset="-122"/>
                <a:cs typeface="+mn-lt" pitchFamily="34" charset="-120"/>
              </a:rPr>
              <a:t>Maintenance action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2194560"/>
        </p:xfrm>
        <a:graphic>
          <a:graphicData uri="http://schemas.openxmlformats.org/drawingml/2006/table">
            <a:tbl>
              <a:tblPr/>
              <a:tblGrid>
                <a:gridCol w="256032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Signal</a:t>
                      </a:r>
                      <a:endParaRPr lang="en-US" sz="12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Recommended action</a:t>
                      </a:r>
                      <a:endParaRPr lang="en-US" sz="12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1F2A36"/>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1F2A36"/>
                          </a:solidFill>
                          <a:latin typeface="Calibri" pitchFamily="34" charset="0"/>
                          <a:ea typeface="Calibri" pitchFamily="34" charset="-122"/>
                          <a:cs typeface="Calibri" pitchFamily="34" charset="-120"/>
                        </a:rPr>
                        <a:t>Failure predicted</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buNone/>
                      </a:pPr>
                      <a:r>
                        <a:rPr lang="en-US" sz="1300" dirty="0">
                          <a:solidFill>
                            <a:srgbClr val="1F2A36"/>
                          </a:solidFill>
                          <a:latin typeface="Calibri" pitchFamily="34" charset="0"/>
                          <a:ea typeface="Calibri" pitchFamily="34" charset="-122"/>
                          <a:cs typeface="Calibri" pitchFamily="34" charset="-120"/>
                        </a:rPr>
                        <a:t>Priority inspection and preventive maintenance</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F2A36"/>
                          </a:solidFill>
                          <a:latin typeface="Calibri" pitchFamily="34" charset="0"/>
                          <a:ea typeface="Calibri" pitchFamily="34" charset="-122"/>
                          <a:cs typeface="Calibri" pitchFamily="34" charset="-120"/>
                        </a:rPr>
                        <a:t>High tool wear</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buNone/>
                      </a:pPr>
                      <a:r>
                        <a:rPr lang="en-US" sz="1300" dirty="0">
                          <a:solidFill>
                            <a:srgbClr val="1F2A36"/>
                          </a:solidFill>
                          <a:latin typeface="Calibri" pitchFamily="34" charset="0"/>
                          <a:ea typeface="Calibri" pitchFamily="34" charset="-122"/>
                          <a:cs typeface="Calibri" pitchFamily="34" charset="-120"/>
                        </a:rPr>
                        <a:t>Inspect or replace the tool</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1F2A36"/>
                          </a:solidFill>
                          <a:latin typeface="Calibri" pitchFamily="34" charset="0"/>
                          <a:ea typeface="Calibri" pitchFamily="34" charset="-122"/>
                          <a:cs typeface="Calibri" pitchFamily="34" charset="-120"/>
                        </a:rPr>
                        <a:t>High torque</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buNone/>
                      </a:pPr>
                      <a:r>
                        <a:rPr lang="en-US" sz="1300" dirty="0">
                          <a:solidFill>
                            <a:srgbClr val="1F2A36"/>
                          </a:solidFill>
                          <a:latin typeface="Calibri" pitchFamily="34" charset="0"/>
                          <a:ea typeface="Calibri" pitchFamily="34" charset="-122"/>
                          <a:cs typeface="Calibri" pitchFamily="34" charset="-120"/>
                        </a:rPr>
                        <a:t>Check mechanical load</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1F2A36"/>
                          </a:solidFill>
                          <a:latin typeface="Calibri" pitchFamily="34" charset="0"/>
                          <a:ea typeface="Calibri" pitchFamily="34" charset="-122"/>
                          <a:cs typeface="Calibri" pitchFamily="34" charset="-120"/>
                        </a:rPr>
                        <a:t>Abnormal speed</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tc>
                  <a:txBody>
                    <a:bodyPr/>
                    <a:lstStyle/>
                    <a:p>
                      <a:pPr marL="0" indent="0">
                        <a:buNone/>
                      </a:pPr>
                      <a:r>
                        <a:rPr lang="en-US" sz="1300" dirty="0">
                          <a:solidFill>
                            <a:srgbClr val="1F2A36"/>
                          </a:solidFill>
                          <a:latin typeface="Calibri" pitchFamily="34" charset="0"/>
                          <a:ea typeface="Calibri" pitchFamily="34" charset="-122"/>
                          <a:cs typeface="Calibri" pitchFamily="34" charset="-120"/>
                        </a:rPr>
                        <a:t>Investigate operating conditions</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1F2A36"/>
                          </a:solidFill>
                          <a:latin typeface="Calibri" pitchFamily="34" charset="0"/>
                          <a:ea typeface="Calibri" pitchFamily="34" charset="-122"/>
                          <a:cs typeface="Calibri" pitchFamily="34" charset="-120"/>
                        </a:rPr>
                        <a:t>High temperature</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tc>
                  <a:txBody>
                    <a:bodyPr/>
                    <a:lstStyle/>
                    <a:p>
                      <a:pPr marL="0" indent="0">
                        <a:buNone/>
                      </a:pPr>
                      <a:r>
                        <a:rPr lang="en-US" sz="1300" dirty="0">
                          <a:solidFill>
                            <a:srgbClr val="1F2A36"/>
                          </a:solidFill>
                          <a:latin typeface="Calibri" pitchFamily="34" charset="0"/>
                          <a:ea typeface="Calibri" pitchFamily="34" charset="-122"/>
                          <a:cs typeface="Calibri" pitchFamily="34" charset="-120"/>
                        </a:rPr>
                        <a:t>Check cooling and thermal conditions</a:t>
                      </a:r>
                      <a:endParaRPr lang="en-US" sz="1300" dirty="0">
                        <a:latin typeface="Calibri" charset="0"/>
                        <a:ea typeface="Calibri" charset="0"/>
                        <a:cs typeface="Calibri" charset="0"/>
                      </a:endParaRPr>
                    </a:p>
                  </a:txBody>
                  <a:tcPr marL="109728" marR="109728" marT="36576" marB="36576" anchor="ctr">
                    <a:lnL w="6350" cap="flat" cmpd="sng" algn="ctr">
                      <a:solidFill>
                        <a:srgbClr val="C9D0D7"/>
                      </a:solidFill>
                      <a:prstDash val="solid"/>
                      <a:round/>
                      <a:headEnd type="none" w="med" len="med"/>
                      <a:tailEnd type="none" w="med" len="med"/>
                    </a:lnL>
                    <a:lnR w="6350" cap="flat" cmpd="sng" algn="ctr">
                      <a:solidFill>
                        <a:srgbClr val="C9D0D7"/>
                      </a:solidFill>
                      <a:prstDash val="solid"/>
                      <a:round/>
                      <a:headEnd type="none" w="med" len="med"/>
                      <a:tailEnd type="none" w="med" len="med"/>
                    </a:lnR>
                    <a:lnT w="6350" cap="flat" cmpd="sng" algn="ctr">
                      <a:solidFill>
                        <a:srgbClr val="C9D0D7"/>
                      </a:solidFill>
                      <a:prstDash val="solid"/>
                      <a:round/>
                      <a:headEnd type="none" w="med" len="med"/>
                      <a:tailEnd type="none" w="med" len="med"/>
                    </a:lnT>
                    <a:lnB w="6350" cap="flat" cmpd="sng" algn="ctr">
                      <a:solidFill>
                        <a:srgbClr val="C9D0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2"/>
          <p:cNvSpPr txBox="1"/>
          <p:nvPr/>
        </p:nvSpPr>
        <p:spPr>
          <a:xfrm>
            <a:off x="457200" y="4526280"/>
            <a:ext cx="8229600" cy="274320"/>
          </a:xfrm>
          <a:prstGeom prst="rect">
            <a:avLst/>
          </a:prstGeom>
          <a:noFill/>
          <a:ln/>
        </p:spPr>
        <p:txBody>
          <a:bodyPr wrap="square" lIns="0" tIns="0" rIns="0" bIns="0" rtlCol="0" anchor="ctr"/>
          <a:lstStyle/>
          <a:p>
            <a:pPr marL="0" indent="0">
              <a:buNone/>
            </a:pPr>
            <a:r>
              <a:rPr lang="en-US" sz="1200" dirty="0">
                <a:solidFill>
                  <a:schemeClr val="accent3"/>
                </a:solidFill>
                <a:latin typeface="+mn-lt" pitchFamily="34" charset="0"/>
                <a:ea typeface="+mn-lt" pitchFamily="34" charset="-122"/>
                <a:cs typeface="+mn-lt" pitchFamily="34" charset="-120"/>
              </a:rPr>
              <a:t>A prediction is a risk signal, not a confirmed failure — engineering inspection decides.</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Scenario testing</a:t>
            </a:r>
            <a:endParaRPr lang="en-US" sz="3200" dirty="0"/>
          </a:p>
        </p:txBody>
      </p:sp>
      <p:graphicFrame>
        <p:nvGraphicFramePr>
          <p:cNvPr id="3" name="Chart 0"/>
          <p:cNvGraphicFramePr/>
          <p:nvPr/>
        </p:nvGraphicFramePr>
        <p:xfrm>
          <a:off x="365760" y="1097280"/>
          <a:ext cx="493776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5577840" y="1188720"/>
            <a:ext cx="3108960" cy="960120"/>
          </a:xfrm>
          <a:prstGeom prst="roundRect">
            <a:avLst>
              <a:gd name="adj" fmla="val 7619"/>
            </a:avLst>
          </a:prstGeom>
          <a:solidFill>
            <a:schemeClr val="bg2"/>
          </a:solidFill>
          <a:ln w="12700">
            <a:solidFill>
              <a:schemeClr val="bg2"/>
            </a:solidFill>
            <a:prstDash val="solid"/>
          </a:ln>
        </p:spPr>
      </p:sp>
      <p:sp>
        <p:nvSpPr>
          <p:cNvPr id="5" name="Text 2"/>
          <p:cNvSpPr txBox="1"/>
          <p:nvPr/>
        </p:nvSpPr>
        <p:spPr>
          <a:xfrm>
            <a:off x="5715000" y="1280160"/>
            <a:ext cx="201168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Scenario 1</a:t>
            </a:r>
            <a:endParaRPr lang="en-US" sz="1400" dirty="0"/>
          </a:p>
        </p:txBody>
      </p:sp>
      <p:sp>
        <p:nvSpPr>
          <p:cNvPr id="6" name="Text 3"/>
          <p:cNvSpPr txBox="1"/>
          <p:nvPr/>
        </p:nvSpPr>
        <p:spPr>
          <a:xfrm>
            <a:off x="7498080" y="1280160"/>
            <a:ext cx="1097280" cy="274320"/>
          </a:xfrm>
          <a:prstGeom prst="rect">
            <a:avLst/>
          </a:prstGeom>
          <a:noFill/>
          <a:ln/>
        </p:spPr>
        <p:txBody>
          <a:bodyPr wrap="square" lIns="0" tIns="0" rIns="0" bIns="0" rtlCol="0" anchor="ctr"/>
          <a:lstStyle/>
          <a:p>
            <a:pPr marL="0" indent="0" algn="r">
              <a:buNone/>
            </a:pPr>
            <a:r>
              <a:rPr lang="en-US" sz="1400" b="1" dirty="0">
                <a:solidFill>
                  <a:schemeClr val="accent1"/>
                </a:solidFill>
                <a:latin typeface="+mn-lt" pitchFamily="34" charset="0"/>
                <a:ea typeface="+mn-lt" pitchFamily="34" charset="-122"/>
                <a:cs typeface="+mn-lt" pitchFamily="34" charset="-120"/>
              </a:rPr>
              <a:t>0.04%</a:t>
            </a:r>
            <a:endParaRPr lang="en-US" sz="1400" dirty="0"/>
          </a:p>
        </p:txBody>
      </p:sp>
      <p:sp>
        <p:nvSpPr>
          <p:cNvPr id="7" name="Text 4"/>
          <p:cNvSpPr txBox="1"/>
          <p:nvPr/>
        </p:nvSpPr>
        <p:spPr>
          <a:xfrm>
            <a:off x="5715000" y="1645920"/>
            <a:ext cx="2834640" cy="41148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35 Nm · 50 min wear · 1,550 rpm</a:t>
            </a:r>
            <a:endParaRPr lang="en-US" sz="1200" dirty="0"/>
          </a:p>
        </p:txBody>
      </p:sp>
      <p:sp>
        <p:nvSpPr>
          <p:cNvPr id="8" name="card"/>
          <p:cNvSpPr/>
          <p:nvPr/>
        </p:nvSpPr>
        <p:spPr>
          <a:xfrm>
            <a:off x="5577840" y="2286000"/>
            <a:ext cx="3108960" cy="960120"/>
          </a:xfrm>
          <a:prstGeom prst="roundRect">
            <a:avLst>
              <a:gd name="adj" fmla="val 7619"/>
            </a:avLst>
          </a:prstGeom>
          <a:solidFill>
            <a:schemeClr val="bg2"/>
          </a:solidFill>
          <a:ln w="12700">
            <a:solidFill>
              <a:schemeClr val="bg2"/>
            </a:solidFill>
            <a:prstDash val="solid"/>
          </a:ln>
        </p:spPr>
      </p:sp>
      <p:sp>
        <p:nvSpPr>
          <p:cNvPr id="9" name="Text 6"/>
          <p:cNvSpPr txBox="1"/>
          <p:nvPr/>
        </p:nvSpPr>
        <p:spPr>
          <a:xfrm>
            <a:off x="5715000" y="2377440"/>
            <a:ext cx="201168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Scenario 2</a:t>
            </a:r>
            <a:endParaRPr lang="en-US" sz="1400" dirty="0"/>
          </a:p>
        </p:txBody>
      </p:sp>
      <p:sp>
        <p:nvSpPr>
          <p:cNvPr id="10" name="Text 7"/>
          <p:cNvSpPr txBox="1"/>
          <p:nvPr/>
        </p:nvSpPr>
        <p:spPr>
          <a:xfrm>
            <a:off x="7498080" y="2377440"/>
            <a:ext cx="1097280" cy="274320"/>
          </a:xfrm>
          <a:prstGeom prst="rect">
            <a:avLst/>
          </a:prstGeom>
          <a:noFill/>
          <a:ln/>
        </p:spPr>
        <p:txBody>
          <a:bodyPr wrap="square" lIns="0" tIns="0" rIns="0" bIns="0" rtlCol="0" anchor="ctr"/>
          <a:lstStyle/>
          <a:p>
            <a:pPr marL="0" indent="0" algn="r">
              <a:buNone/>
            </a:pPr>
            <a:r>
              <a:rPr lang="en-US" sz="1400" b="1" dirty="0">
                <a:solidFill>
                  <a:schemeClr val="accent1"/>
                </a:solidFill>
                <a:latin typeface="+mn-lt" pitchFamily="34" charset="0"/>
                <a:ea typeface="+mn-lt" pitchFamily="34" charset="-122"/>
                <a:cs typeface="+mn-lt" pitchFamily="34" charset="-120"/>
              </a:rPr>
              <a:t>0.34%</a:t>
            </a:r>
            <a:endParaRPr lang="en-US" sz="1400" dirty="0"/>
          </a:p>
        </p:txBody>
      </p:sp>
      <p:sp>
        <p:nvSpPr>
          <p:cNvPr id="11" name="Text 8"/>
          <p:cNvSpPr txBox="1"/>
          <p:nvPr/>
        </p:nvSpPr>
        <p:spPr>
          <a:xfrm>
            <a:off x="5715000" y="2743200"/>
            <a:ext cx="2834640" cy="41148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55 Nm · 180 min wear · 1,400 rpm</a:t>
            </a:r>
            <a:endParaRPr lang="en-US" sz="1200" dirty="0"/>
          </a:p>
        </p:txBody>
      </p:sp>
      <p:sp>
        <p:nvSpPr>
          <p:cNvPr id="12" name="card"/>
          <p:cNvSpPr/>
          <p:nvPr/>
        </p:nvSpPr>
        <p:spPr>
          <a:xfrm>
            <a:off x="5577840" y="3383280"/>
            <a:ext cx="3108960" cy="960120"/>
          </a:xfrm>
          <a:prstGeom prst="roundRect">
            <a:avLst>
              <a:gd name="adj" fmla="val 7619"/>
            </a:avLst>
          </a:prstGeom>
          <a:solidFill>
            <a:schemeClr val="bg2"/>
          </a:solidFill>
          <a:ln w="12700">
            <a:solidFill>
              <a:schemeClr val="bg2"/>
            </a:solidFill>
            <a:prstDash val="solid"/>
          </a:ln>
        </p:spPr>
      </p:sp>
      <p:sp>
        <p:nvSpPr>
          <p:cNvPr id="13" name="Text 10"/>
          <p:cNvSpPr txBox="1"/>
          <p:nvPr/>
        </p:nvSpPr>
        <p:spPr>
          <a:xfrm>
            <a:off x="5715000" y="3474720"/>
            <a:ext cx="2011680" cy="27432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Scenario 3</a:t>
            </a:r>
            <a:endParaRPr lang="en-US" sz="1400" dirty="0"/>
          </a:p>
        </p:txBody>
      </p:sp>
      <p:sp>
        <p:nvSpPr>
          <p:cNvPr id="14" name="Text 11"/>
          <p:cNvSpPr txBox="1"/>
          <p:nvPr/>
        </p:nvSpPr>
        <p:spPr>
          <a:xfrm>
            <a:off x="7498080" y="3474720"/>
            <a:ext cx="1097280" cy="274320"/>
          </a:xfrm>
          <a:prstGeom prst="rect">
            <a:avLst/>
          </a:prstGeom>
          <a:noFill/>
          <a:ln/>
        </p:spPr>
        <p:txBody>
          <a:bodyPr wrap="square" lIns="0" tIns="0" rIns="0" bIns="0" rtlCol="0" anchor="ctr"/>
          <a:lstStyle/>
          <a:p>
            <a:pPr marL="0" indent="0" algn="r">
              <a:buNone/>
            </a:pPr>
            <a:r>
              <a:rPr lang="en-US" sz="1400" b="1" dirty="0">
                <a:solidFill>
                  <a:schemeClr val="accent1"/>
                </a:solidFill>
                <a:latin typeface="+mn-lt" pitchFamily="34" charset="0"/>
                <a:ea typeface="+mn-lt" pitchFamily="34" charset="-122"/>
                <a:cs typeface="+mn-lt" pitchFamily="34" charset="-120"/>
              </a:rPr>
              <a:t>50.0%</a:t>
            </a:r>
            <a:endParaRPr lang="en-US" sz="1400" dirty="0"/>
          </a:p>
        </p:txBody>
      </p:sp>
      <p:sp>
        <p:nvSpPr>
          <p:cNvPr id="15" name="Text 12"/>
          <p:cNvSpPr txBox="1"/>
          <p:nvPr/>
        </p:nvSpPr>
        <p:spPr>
          <a:xfrm>
            <a:off x="5715000" y="3840480"/>
            <a:ext cx="2834640" cy="411480"/>
          </a:xfrm>
          <a:prstGeom prst="rect">
            <a:avLst/>
          </a:prstGeom>
          <a:noFill/>
          <a:ln/>
        </p:spPr>
        <p:txBody>
          <a:bodyPr wrap="square" lIns="0" tIns="0" rIns="0" bIns="0" rtlCol="0" anchor="t"/>
          <a:lstStyle/>
          <a:p>
            <a:pPr marL="0" indent="0">
              <a:buNone/>
            </a:pPr>
            <a:r>
              <a:rPr lang="en-US" sz="1200" dirty="0">
                <a:solidFill>
                  <a:schemeClr val="accent3"/>
                </a:solidFill>
                <a:latin typeface="+mn-lt" pitchFamily="34" charset="0"/>
                <a:ea typeface="+mn-lt" pitchFamily="34" charset="-122"/>
                <a:cs typeface="+mn-lt" pitchFamily="34" charset="-120"/>
              </a:rPr>
              <a:t>60 Nm · 220 min wear · 1,800 rpm</a:t>
            </a:r>
            <a:endParaRPr lang="en-US" sz="1200" dirty="0"/>
          </a:p>
        </p:txBody>
      </p:sp>
      <p:sp>
        <p:nvSpPr>
          <p:cNvPr id="16" name="Text 13"/>
          <p:cNvSpPr txBox="1"/>
          <p:nvPr/>
        </p:nvSpPr>
        <p:spPr>
          <a:xfrm>
            <a:off x="5577840" y="4480560"/>
            <a:ext cx="3108960" cy="365760"/>
          </a:xfrm>
          <a:prstGeom prst="rect">
            <a:avLst/>
          </a:prstGeom>
          <a:noFill/>
          <a:ln/>
        </p:spPr>
        <p:txBody>
          <a:bodyPr wrap="square" lIns="0" tIns="0" rIns="0" bIns="0" rtlCol="0" anchor="t"/>
          <a:lstStyle/>
          <a:p>
            <a:pPr marL="0" indent="0">
              <a:buNone/>
            </a:pPr>
            <a:r>
              <a:rPr lang="en-US" sz="1000" dirty="0">
                <a:solidFill>
                  <a:schemeClr val="accent3"/>
                </a:solidFill>
                <a:latin typeface="+mn-lt" pitchFamily="34" charset="0"/>
                <a:ea typeface="+mn-lt" pitchFamily="34" charset="-122"/>
                <a:cs typeface="+mn-lt" pitchFamily="34" charset="-120"/>
              </a:rPr>
              <a:t>Tree-leaf probabilities are not calibrated real-world failure rates.</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Power BI Dashboard</a:t>
            </a:r>
            <a:endParaRPr lang="en-US" sz="3200" dirty="0"/>
          </a:p>
        </p:txBody>
      </p:sp>
      <p:pic>
        <p:nvPicPr>
          <p:cNvPr id="3" name="Image 0"/>
          <p:cNvPicPr>
            <a:picLocks noChangeAspect="1"/>
          </p:cNvPicPr>
          <p:nvPr/>
        </p:nvPicPr>
        <p:blipFill>
          <a:blip r:embed="rId3"/>
          <a:srcRect/>
          <a:stretch/>
        </p:blipFill>
        <p:spPr>
          <a:xfrm>
            <a:off x="378990" y="1234440"/>
            <a:ext cx="5642819" cy="3127248"/>
          </a:xfrm>
          <a:prstGeom prst="rect">
            <a:avLst/>
          </a:prstGeom>
        </p:spPr>
      </p:pic>
      <p:sp>
        <p:nvSpPr>
          <p:cNvPr id="4" name="Text 1"/>
          <p:cNvSpPr txBox="1"/>
          <p:nvPr/>
        </p:nvSpPr>
        <p:spPr>
          <a:xfrm>
            <a:off x="365760" y="4434840"/>
            <a:ext cx="5669280" cy="274320"/>
          </a:xfrm>
          <a:prstGeom prst="rect">
            <a:avLst/>
          </a:prstGeom>
          <a:noFill/>
          <a:ln/>
        </p:spPr>
        <p:txBody>
          <a:bodyPr wrap="square" lIns="0" tIns="0" rIns="0" bIns="0" rtlCol="0" anchor="ctr"/>
          <a:lstStyle/>
          <a:p>
            <a:pPr marL="0" indent="0">
              <a:buNone/>
            </a:pPr>
            <a:r>
              <a:rPr lang="en-US" sz="1100" dirty="0">
                <a:solidFill>
                  <a:schemeClr val="accent3"/>
                </a:solidFill>
                <a:latin typeface="+mn-lt" pitchFamily="34" charset="0"/>
                <a:ea typeface="+mn-lt" pitchFamily="34" charset="-122"/>
                <a:cs typeface="+mn-lt" pitchFamily="34" charset="-120"/>
              </a:rPr>
              <a:t>Model insights and maintenance action plan</a:t>
            </a:r>
            <a:endParaRPr lang="en-US" sz="1100" dirty="0"/>
          </a:p>
        </p:txBody>
      </p:sp>
      <p:sp>
        <p:nvSpPr>
          <p:cNvPr id="5" name="icon-bg"/>
          <p:cNvSpPr/>
          <p:nvPr/>
        </p:nvSpPr>
        <p:spPr>
          <a:xfrm>
            <a:off x="6263640" y="1280160"/>
            <a:ext cx="502920" cy="502920"/>
          </a:xfrm>
          <a:prstGeom prst="ellipse">
            <a:avLst/>
          </a:prstGeom>
          <a:solidFill>
            <a:schemeClr val="accent1"/>
          </a:solidFill>
          <a:ln w="12700">
            <a:solidFill>
              <a:schemeClr val="accent1"/>
            </a:solidFill>
            <a:prstDash val="solid"/>
          </a:ln>
        </p:spPr>
      </p:sp>
      <p:pic>
        <p:nvPicPr>
          <p:cNvPr id="6" name="Image 1" descr="chart icon"/>
          <p:cNvPicPr>
            <a:picLocks noChangeAspect="1"/>
          </p:cNvPicPr>
          <p:nvPr/>
        </p:nvPicPr>
        <p:blipFill>
          <a:blip r:embed="rId4"/>
          <a:stretch>
            <a:fillRect/>
          </a:stretch>
        </p:blipFill>
        <p:spPr>
          <a:xfrm>
            <a:off x="6389370" y="1405890"/>
            <a:ext cx="251460" cy="251460"/>
          </a:xfrm>
          <a:prstGeom prst="rect">
            <a:avLst/>
          </a:prstGeom>
        </p:spPr>
      </p:pic>
      <p:sp>
        <p:nvSpPr>
          <p:cNvPr id="7" name="Text 3"/>
          <p:cNvSpPr txBox="1"/>
          <p:nvPr/>
        </p:nvSpPr>
        <p:spPr>
          <a:xfrm>
            <a:off x="6903720" y="1234440"/>
            <a:ext cx="1783080" cy="32004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Machine health</a:t>
            </a:r>
            <a:endParaRPr lang="en-US" sz="1400" dirty="0"/>
          </a:p>
        </p:txBody>
      </p:sp>
      <p:sp>
        <p:nvSpPr>
          <p:cNvPr id="8" name="Text 4"/>
          <p:cNvSpPr txBox="1"/>
          <p:nvPr/>
        </p:nvSpPr>
        <p:spPr>
          <a:xfrm>
            <a:off x="6903720" y="1581912"/>
            <a:ext cx="1783080" cy="640080"/>
          </a:xfrm>
          <a:prstGeom prst="rect">
            <a:avLst/>
          </a:prstGeom>
          <a:noFill/>
          <a:ln/>
        </p:spPr>
        <p:txBody>
          <a:bodyPr wrap="square" lIns="0" tIns="0" rIns="0" bIns="0" rtlCol="0" anchor="t"/>
          <a:lstStyle/>
          <a:p>
            <a:pPr marL="0" indent="0">
              <a:buNone/>
            </a:pPr>
            <a:r>
              <a:rPr lang="en-US" sz="1100" dirty="0">
                <a:solidFill>
                  <a:schemeClr val="accent3"/>
                </a:solidFill>
                <a:latin typeface="+mn-lt" pitchFamily="34" charset="0"/>
                <a:ea typeface="+mn-lt" pitchFamily="34" charset="-122"/>
                <a:cs typeface="+mn-lt" pitchFamily="34" charset="-120"/>
              </a:rPr>
              <a:t>Failure rate 3.39%, failures by product type</a:t>
            </a:r>
            <a:endParaRPr lang="en-US" sz="1100" dirty="0"/>
          </a:p>
        </p:txBody>
      </p:sp>
      <p:sp>
        <p:nvSpPr>
          <p:cNvPr id="9" name="icon-bg"/>
          <p:cNvSpPr/>
          <p:nvPr/>
        </p:nvSpPr>
        <p:spPr>
          <a:xfrm>
            <a:off x="6263640" y="2377440"/>
            <a:ext cx="502920" cy="502920"/>
          </a:xfrm>
          <a:prstGeom prst="ellipse">
            <a:avLst/>
          </a:prstGeom>
          <a:solidFill>
            <a:schemeClr val="accent1"/>
          </a:solidFill>
          <a:ln w="12700">
            <a:solidFill>
              <a:schemeClr val="accent1"/>
            </a:solidFill>
            <a:prstDash val="solid"/>
          </a:ln>
        </p:spPr>
      </p:sp>
      <p:pic>
        <p:nvPicPr>
          <p:cNvPr id="10" name="Image 2" descr="gauge icon"/>
          <p:cNvPicPr>
            <a:picLocks noChangeAspect="1"/>
          </p:cNvPicPr>
          <p:nvPr/>
        </p:nvPicPr>
        <p:blipFill>
          <a:blip r:embed="rId5"/>
          <a:stretch>
            <a:fillRect/>
          </a:stretch>
        </p:blipFill>
        <p:spPr>
          <a:xfrm>
            <a:off x="6389370" y="2503170"/>
            <a:ext cx="251460" cy="251460"/>
          </a:xfrm>
          <a:prstGeom prst="rect">
            <a:avLst/>
          </a:prstGeom>
        </p:spPr>
      </p:pic>
      <p:sp>
        <p:nvSpPr>
          <p:cNvPr id="11" name="Text 6"/>
          <p:cNvSpPr txBox="1"/>
          <p:nvPr/>
        </p:nvSpPr>
        <p:spPr>
          <a:xfrm>
            <a:off x="6903720" y="2331720"/>
            <a:ext cx="1783080" cy="32004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Operating parameters</a:t>
            </a:r>
            <a:endParaRPr lang="en-US" sz="1400" dirty="0"/>
          </a:p>
        </p:txBody>
      </p:sp>
      <p:sp>
        <p:nvSpPr>
          <p:cNvPr id="12" name="Text 7"/>
          <p:cNvSpPr txBox="1"/>
          <p:nvPr/>
        </p:nvSpPr>
        <p:spPr>
          <a:xfrm>
            <a:off x="6903720" y="2679192"/>
            <a:ext cx="1783080" cy="640080"/>
          </a:xfrm>
          <a:prstGeom prst="rect">
            <a:avLst/>
          </a:prstGeom>
          <a:noFill/>
          <a:ln/>
        </p:spPr>
        <p:txBody>
          <a:bodyPr wrap="square" lIns="0" tIns="0" rIns="0" bIns="0" rtlCol="0" anchor="t"/>
          <a:lstStyle/>
          <a:p>
            <a:pPr marL="0" indent="0">
              <a:buNone/>
            </a:pPr>
            <a:r>
              <a:rPr lang="en-US" sz="1100" dirty="0">
                <a:solidFill>
                  <a:schemeClr val="accent3"/>
                </a:solidFill>
                <a:latin typeface="+mn-lt" pitchFamily="34" charset="0"/>
                <a:ea typeface="+mn-lt" pitchFamily="34" charset="-122"/>
                <a:cs typeface="+mn-lt" pitchFamily="34" charset="-120"/>
              </a:rPr>
              <a:t>Normal vs failed torque, wear, speed, temperature</a:t>
            </a:r>
            <a:endParaRPr lang="en-US" sz="1100" dirty="0"/>
          </a:p>
        </p:txBody>
      </p:sp>
      <p:sp>
        <p:nvSpPr>
          <p:cNvPr id="13" name="icon-bg"/>
          <p:cNvSpPr/>
          <p:nvPr/>
        </p:nvSpPr>
        <p:spPr>
          <a:xfrm>
            <a:off x="6263640" y="3474720"/>
            <a:ext cx="502920" cy="502920"/>
          </a:xfrm>
          <a:prstGeom prst="ellipse">
            <a:avLst/>
          </a:prstGeom>
          <a:solidFill>
            <a:schemeClr val="accent1"/>
          </a:solidFill>
          <a:ln w="12700">
            <a:solidFill>
              <a:schemeClr val="accent1"/>
            </a:solidFill>
            <a:prstDash val="solid"/>
          </a:ln>
        </p:spPr>
      </p:sp>
      <p:pic>
        <p:nvPicPr>
          <p:cNvPr id="14" name="Image 3" descr="bell icon"/>
          <p:cNvPicPr>
            <a:picLocks noChangeAspect="1"/>
          </p:cNvPicPr>
          <p:nvPr/>
        </p:nvPicPr>
        <p:blipFill>
          <a:blip r:embed="rId6"/>
          <a:stretch>
            <a:fillRect/>
          </a:stretch>
        </p:blipFill>
        <p:spPr>
          <a:xfrm>
            <a:off x="6389370" y="3600450"/>
            <a:ext cx="251460" cy="251460"/>
          </a:xfrm>
          <a:prstGeom prst="rect">
            <a:avLst/>
          </a:prstGeom>
        </p:spPr>
      </p:pic>
      <p:sp>
        <p:nvSpPr>
          <p:cNvPr id="15" name="Text 9"/>
          <p:cNvSpPr txBox="1"/>
          <p:nvPr/>
        </p:nvSpPr>
        <p:spPr>
          <a:xfrm>
            <a:off x="6903720" y="3429000"/>
            <a:ext cx="1783080" cy="320040"/>
          </a:xfrm>
          <a:prstGeom prst="rect">
            <a:avLst/>
          </a:prstGeom>
          <a:noFill/>
          <a:ln/>
        </p:spPr>
        <p:txBody>
          <a:bodyPr wrap="square" lIns="0" tIns="0" rIns="0" bIns="0" rtlCol="0" anchor="ctr"/>
          <a:lstStyle/>
          <a:p>
            <a:pPr marL="0" indent="0">
              <a:buNone/>
            </a:pPr>
            <a:r>
              <a:rPr lang="en-US" sz="1400" b="1" dirty="0">
                <a:solidFill>
                  <a:schemeClr val="tx1"/>
                </a:solidFill>
                <a:latin typeface="+mn-lt" pitchFamily="34" charset="0"/>
                <a:ea typeface="+mn-lt" pitchFamily="34" charset="-122"/>
                <a:cs typeface="+mn-lt" pitchFamily="34" charset="-120"/>
              </a:rPr>
              <a:t>Insights and actions</a:t>
            </a:r>
            <a:endParaRPr lang="en-US" sz="1400" dirty="0"/>
          </a:p>
        </p:txBody>
      </p:sp>
      <p:sp>
        <p:nvSpPr>
          <p:cNvPr id="16" name="Text 10"/>
          <p:cNvSpPr txBox="1"/>
          <p:nvPr/>
        </p:nvSpPr>
        <p:spPr>
          <a:xfrm>
            <a:off x="6903720" y="3776472"/>
            <a:ext cx="1783080" cy="640080"/>
          </a:xfrm>
          <a:prstGeom prst="rect">
            <a:avLst/>
          </a:prstGeom>
          <a:noFill/>
          <a:ln/>
        </p:spPr>
        <p:txBody>
          <a:bodyPr wrap="square" lIns="0" tIns="0" rIns="0" bIns="0" rtlCol="0" anchor="t"/>
          <a:lstStyle/>
          <a:p>
            <a:pPr marL="0" indent="0">
              <a:buNone/>
            </a:pPr>
            <a:r>
              <a:rPr lang="en-US" sz="1100" dirty="0">
                <a:solidFill>
                  <a:schemeClr val="accent3"/>
                </a:solidFill>
                <a:latin typeface="+mn-lt" pitchFamily="34" charset="0"/>
                <a:ea typeface="+mn-lt" pitchFamily="34" charset="-122"/>
                <a:cs typeface="+mn-lt" pitchFamily="34" charset="-120"/>
              </a:rPr>
              <a:t>Model comparison and maintenance plan</a:t>
            </a:r>
            <a:endParaRPr lang="en-US" sz="11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Limitations and next steps</a:t>
            </a:r>
            <a:endParaRPr lang="en-US" sz="3200" dirty="0"/>
          </a:p>
        </p:txBody>
      </p:sp>
      <p:sp>
        <p:nvSpPr>
          <p:cNvPr id="3" name="card"/>
          <p:cNvSpPr/>
          <p:nvPr/>
        </p:nvSpPr>
        <p:spPr>
          <a:xfrm>
            <a:off x="457200" y="1234440"/>
            <a:ext cx="4023360" cy="3291840"/>
          </a:xfrm>
          <a:prstGeom prst="roundRect">
            <a:avLst>
              <a:gd name="adj" fmla="val 2222"/>
            </a:avLst>
          </a:prstGeom>
          <a:solidFill>
            <a:schemeClr val="bg2"/>
          </a:solidFill>
          <a:ln w="12700">
            <a:solidFill>
              <a:schemeClr val="bg2"/>
            </a:solidFill>
            <a:prstDash val="solid"/>
          </a:ln>
        </p:spPr>
      </p:sp>
      <p:sp>
        <p:nvSpPr>
          <p:cNvPr id="4" name="card"/>
          <p:cNvSpPr/>
          <p:nvPr/>
        </p:nvSpPr>
        <p:spPr>
          <a:xfrm>
            <a:off x="4663440" y="1234440"/>
            <a:ext cx="4023360" cy="3291840"/>
          </a:xfrm>
          <a:prstGeom prst="roundRect">
            <a:avLst>
              <a:gd name="adj" fmla="val 2222"/>
            </a:avLst>
          </a:prstGeom>
          <a:solidFill>
            <a:schemeClr val="bg2"/>
          </a:solidFill>
          <a:ln w="12700">
            <a:solidFill>
              <a:schemeClr val="bg2"/>
            </a:solidFill>
            <a:prstDash val="solid"/>
          </a:ln>
        </p:spPr>
      </p:sp>
      <p:sp>
        <p:nvSpPr>
          <p:cNvPr id="5" name="Text 3"/>
          <p:cNvSpPr txBox="1"/>
          <p:nvPr/>
        </p:nvSpPr>
        <p:spPr>
          <a:xfrm>
            <a:off x="640080" y="1371600"/>
            <a:ext cx="3657600" cy="320040"/>
          </a:xfrm>
          <a:prstGeom prst="rect">
            <a:avLst/>
          </a:prstGeom>
          <a:noFill/>
          <a:ln/>
        </p:spPr>
        <p:txBody>
          <a:bodyPr wrap="square" lIns="0" tIns="0" rIns="0" bIns="0" rtlCol="0" anchor="ctr"/>
          <a:lstStyle/>
          <a:p>
            <a:pPr marL="0" indent="0">
              <a:buNone/>
            </a:pPr>
            <a:r>
              <a:rPr lang="en-US" sz="1800" b="1" dirty="0">
                <a:solidFill>
                  <a:schemeClr val="accent1"/>
                </a:solidFill>
                <a:latin typeface="+mn-lt" pitchFamily="34" charset="0"/>
                <a:ea typeface="+mn-lt" pitchFamily="34" charset="-122"/>
                <a:cs typeface="+mn-lt" pitchFamily="34" charset="-120"/>
              </a:rPr>
              <a:t>Limitations</a:t>
            </a:r>
            <a:endParaRPr lang="en-US" sz="1800" dirty="0"/>
          </a:p>
        </p:txBody>
      </p:sp>
      <p:sp>
        <p:nvSpPr>
          <p:cNvPr id="6" name="Text 4"/>
          <p:cNvSpPr txBox="1"/>
          <p:nvPr/>
        </p:nvSpPr>
        <p:spPr>
          <a:xfrm>
            <a:off x="4846320" y="1371600"/>
            <a:ext cx="3657600" cy="320040"/>
          </a:xfrm>
          <a:prstGeom prst="rect">
            <a:avLst/>
          </a:prstGeom>
          <a:noFill/>
          <a:ln/>
        </p:spPr>
        <p:txBody>
          <a:bodyPr wrap="square" lIns="0" tIns="0" rIns="0" bIns="0" rtlCol="0" anchor="ctr"/>
          <a:lstStyle/>
          <a:p>
            <a:pPr marL="0" indent="0">
              <a:buNone/>
            </a:pPr>
            <a:r>
              <a:rPr lang="en-US" sz="1800" b="1" dirty="0">
                <a:solidFill>
                  <a:schemeClr val="accent2"/>
                </a:solidFill>
                <a:latin typeface="+mn-lt" pitchFamily="34" charset="0"/>
                <a:ea typeface="+mn-lt" pitchFamily="34" charset="-122"/>
                <a:cs typeface="+mn-lt" pitchFamily="34" charset="-120"/>
              </a:rPr>
              <a:t>Next steps</a:t>
            </a:r>
            <a:endParaRPr lang="en-US" sz="1800" dirty="0"/>
          </a:p>
        </p:txBody>
      </p:sp>
      <p:sp>
        <p:nvSpPr>
          <p:cNvPr id="7" name="Text 5"/>
          <p:cNvSpPr txBox="1"/>
          <p:nvPr/>
        </p:nvSpPr>
        <p:spPr>
          <a:xfrm>
            <a:off x="640080" y="1874520"/>
            <a:ext cx="3657600" cy="256032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Synthetic data, not a real plant</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Only 68 failures in the test set</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15 of 68 failures still missed</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Probabilities are not calibrated</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Six sensors, no vibration or history</a:t>
            </a:r>
            <a:endParaRPr lang="en-US" sz="1600" dirty="0"/>
          </a:p>
        </p:txBody>
      </p:sp>
      <p:sp>
        <p:nvSpPr>
          <p:cNvPr id="8" name="Text 6"/>
          <p:cNvSpPr txBox="1"/>
          <p:nvPr/>
        </p:nvSpPr>
        <p:spPr>
          <a:xfrm>
            <a:off x="4846320" y="1874520"/>
            <a:ext cx="3657600" cy="256032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Validate on real machine data</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Class weighting and threshold tuning</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Add vibration and maintenance history</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Live monitoring and workflow integration</a:t>
            </a:r>
            <a:endParaRPr lang="en-US" sz="1600" dirty="0"/>
          </a:p>
          <a:p>
            <a:pPr marL="342900" indent="-342900">
              <a:spcAft>
                <a:spcPts val="1100"/>
              </a:spcAft>
              <a:buSzPct val="100000"/>
              <a:buChar char="•"/>
            </a:pPr>
            <a:r>
              <a:rPr lang="en-US" sz="1600" dirty="0">
                <a:solidFill>
                  <a:schemeClr val="tx1"/>
                </a:solidFill>
                <a:latin typeface="+mn-lt" pitchFamily="34" charset="0"/>
                <a:ea typeface="+mn-lt" pitchFamily="34" charset="-122"/>
                <a:cs typeface="+mn-lt" pitchFamily="34" charset="-120"/>
              </a:rPr>
              <a:t>Monitor and retrain after deployment</a:t>
            </a:r>
            <a:endParaRPr lang="en-US" sz="16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600" b="1" dirty="0">
                <a:solidFill>
                  <a:schemeClr val="bg1"/>
                </a:solidFill>
              </a:rPr>
              <a:t>Key takeaways</a:t>
            </a:r>
            <a:endParaRPr lang="en-US" sz="3600" dirty="0"/>
          </a:p>
        </p:txBody>
      </p:sp>
      <p:sp>
        <p:nvSpPr>
          <p:cNvPr id="3" name="card-dark"/>
          <p:cNvSpPr/>
          <p:nvPr/>
        </p:nvSpPr>
        <p:spPr>
          <a:xfrm>
            <a:off x="548640" y="1371600"/>
            <a:ext cx="3931920" cy="1280160"/>
          </a:xfrm>
          <a:prstGeom prst="roundRect">
            <a:avLst>
              <a:gd name="adj" fmla="val 5714"/>
            </a:avLst>
          </a:prstGeom>
          <a:solidFill>
            <a:schemeClr val="tx2"/>
          </a:solidFill>
          <a:ln w="12700">
            <a:solidFill>
              <a:schemeClr val="tx2"/>
            </a:solidFill>
            <a:prstDash val="solid"/>
          </a:ln>
        </p:spPr>
      </p:sp>
      <p:sp>
        <p:nvSpPr>
          <p:cNvPr id="4" name="Text 2"/>
          <p:cNvSpPr txBox="1"/>
          <p:nvPr/>
        </p:nvSpPr>
        <p:spPr>
          <a:xfrm>
            <a:off x="731520" y="1481328"/>
            <a:ext cx="3566160" cy="502920"/>
          </a:xfrm>
          <a:prstGeom prst="rect">
            <a:avLst/>
          </a:prstGeom>
          <a:noFill/>
          <a:ln/>
        </p:spPr>
        <p:txBody>
          <a:bodyPr wrap="square" lIns="0" tIns="0" rIns="0" bIns="0" rtlCol="0" anchor="ctr"/>
          <a:lstStyle/>
          <a:p>
            <a:pPr marL="0" indent="0">
              <a:buNone/>
            </a:pPr>
            <a:r>
              <a:rPr lang="en-US" sz="2400" b="1" dirty="0">
                <a:solidFill>
                  <a:schemeClr val="accent1"/>
                </a:solidFill>
                <a:latin typeface="+mn-lt" pitchFamily="34" charset="0"/>
                <a:ea typeface="+mn-lt" pitchFamily="34" charset="-122"/>
                <a:cs typeface="+mn-lt" pitchFamily="34" charset="-120"/>
              </a:rPr>
              <a:t>3.4%</a:t>
            </a:r>
            <a:endParaRPr lang="en-US" sz="2400" dirty="0"/>
          </a:p>
        </p:txBody>
      </p:sp>
      <p:sp>
        <p:nvSpPr>
          <p:cNvPr id="5" name="Text 3"/>
          <p:cNvSpPr txBox="1"/>
          <p:nvPr/>
        </p:nvSpPr>
        <p:spPr>
          <a:xfrm>
            <a:off x="731520" y="2011680"/>
            <a:ext cx="3566160" cy="548640"/>
          </a:xfrm>
          <a:prstGeom prst="rect">
            <a:avLst/>
          </a:prstGeom>
          <a:noFill/>
          <a:ln/>
        </p:spPr>
        <p:txBody>
          <a:bodyPr wrap="square" lIns="0" tIns="0" rIns="0" bIns="0" rtlCol="0" anchor="t"/>
          <a:lstStyle/>
          <a:p>
            <a:pPr marL="0" indent="0">
              <a:buNone/>
            </a:pPr>
            <a:r>
              <a:rPr lang="en-US" sz="1300" dirty="0">
                <a:solidFill>
                  <a:srgbClr val="E3E7EB"/>
                </a:solidFill>
                <a:latin typeface="+mn-lt" pitchFamily="34" charset="0"/>
                <a:ea typeface="+mn-lt" pitchFamily="34" charset="-122"/>
                <a:cs typeface="+mn-lt" pitchFamily="34" charset="-120"/>
              </a:rPr>
              <a:t>of records are failures, so recall and F1 matter more than accuracy</a:t>
            </a:r>
            <a:endParaRPr lang="en-US" sz="1300" dirty="0"/>
          </a:p>
        </p:txBody>
      </p:sp>
      <p:sp>
        <p:nvSpPr>
          <p:cNvPr id="6" name="card-dark"/>
          <p:cNvSpPr/>
          <p:nvPr/>
        </p:nvSpPr>
        <p:spPr>
          <a:xfrm>
            <a:off x="4663440" y="1371600"/>
            <a:ext cx="3931920" cy="1280160"/>
          </a:xfrm>
          <a:prstGeom prst="roundRect">
            <a:avLst>
              <a:gd name="adj" fmla="val 5714"/>
            </a:avLst>
          </a:prstGeom>
          <a:solidFill>
            <a:schemeClr val="tx2"/>
          </a:solidFill>
          <a:ln w="12700">
            <a:solidFill>
              <a:schemeClr val="tx2"/>
            </a:solidFill>
            <a:prstDash val="solid"/>
          </a:ln>
        </p:spPr>
      </p:sp>
      <p:sp>
        <p:nvSpPr>
          <p:cNvPr id="7" name="Text 5"/>
          <p:cNvSpPr txBox="1"/>
          <p:nvPr/>
        </p:nvSpPr>
        <p:spPr>
          <a:xfrm>
            <a:off x="4846320" y="1481328"/>
            <a:ext cx="3566160" cy="502920"/>
          </a:xfrm>
          <a:prstGeom prst="rect">
            <a:avLst/>
          </a:prstGeom>
          <a:noFill/>
          <a:ln/>
        </p:spPr>
        <p:txBody>
          <a:bodyPr wrap="square" lIns="0" tIns="0" rIns="0" bIns="0" rtlCol="0" anchor="ctr"/>
          <a:lstStyle/>
          <a:p>
            <a:pPr marL="0" indent="0">
              <a:buNone/>
            </a:pPr>
            <a:r>
              <a:rPr lang="en-US" sz="2400" b="1" dirty="0">
                <a:solidFill>
                  <a:schemeClr val="accent1"/>
                </a:solidFill>
                <a:latin typeface="+mn-lt" pitchFamily="34" charset="0"/>
                <a:ea typeface="+mn-lt" pitchFamily="34" charset="-122"/>
                <a:cs typeface="+mn-lt" pitchFamily="34" charset="-120"/>
              </a:rPr>
              <a:t>Torque + tool wear</a:t>
            </a:r>
            <a:endParaRPr lang="en-US" sz="2400" dirty="0"/>
          </a:p>
        </p:txBody>
      </p:sp>
      <p:sp>
        <p:nvSpPr>
          <p:cNvPr id="8" name="Text 6"/>
          <p:cNvSpPr txBox="1"/>
          <p:nvPr/>
        </p:nvSpPr>
        <p:spPr>
          <a:xfrm>
            <a:off x="4846320" y="2011680"/>
            <a:ext cx="3566160" cy="548640"/>
          </a:xfrm>
          <a:prstGeom prst="rect">
            <a:avLst/>
          </a:prstGeom>
          <a:noFill/>
          <a:ln/>
        </p:spPr>
        <p:txBody>
          <a:bodyPr wrap="square" lIns="0" tIns="0" rIns="0" bIns="0" rtlCol="0" anchor="t"/>
          <a:lstStyle/>
          <a:p>
            <a:pPr marL="0" indent="0">
              <a:buNone/>
            </a:pPr>
            <a:r>
              <a:rPr lang="en-US" sz="1300" dirty="0">
                <a:solidFill>
                  <a:srgbClr val="E3E7EB"/>
                </a:solidFill>
                <a:latin typeface="+mn-lt" pitchFamily="34" charset="0"/>
                <a:ea typeface="+mn-lt" pitchFamily="34" charset="-122"/>
                <a:cs typeface="+mn-lt" pitchFamily="34" charset="-120"/>
              </a:rPr>
              <a:t>are the strongest failure signals</a:t>
            </a:r>
            <a:endParaRPr lang="en-US" sz="1300" dirty="0"/>
          </a:p>
        </p:txBody>
      </p:sp>
      <p:sp>
        <p:nvSpPr>
          <p:cNvPr id="9" name="card-dark"/>
          <p:cNvSpPr/>
          <p:nvPr/>
        </p:nvSpPr>
        <p:spPr>
          <a:xfrm>
            <a:off x="548640" y="2788920"/>
            <a:ext cx="3931920" cy="1280160"/>
          </a:xfrm>
          <a:prstGeom prst="roundRect">
            <a:avLst>
              <a:gd name="adj" fmla="val 5714"/>
            </a:avLst>
          </a:prstGeom>
          <a:solidFill>
            <a:schemeClr val="tx2"/>
          </a:solidFill>
          <a:ln w="12700">
            <a:solidFill>
              <a:schemeClr val="tx2"/>
            </a:solidFill>
            <a:prstDash val="solid"/>
          </a:ln>
        </p:spPr>
      </p:sp>
      <p:sp>
        <p:nvSpPr>
          <p:cNvPr id="10" name="Text 8"/>
          <p:cNvSpPr txBox="1"/>
          <p:nvPr/>
        </p:nvSpPr>
        <p:spPr>
          <a:xfrm>
            <a:off x="731520" y="2898648"/>
            <a:ext cx="3566160" cy="502920"/>
          </a:xfrm>
          <a:prstGeom prst="rect">
            <a:avLst/>
          </a:prstGeom>
          <a:noFill/>
          <a:ln/>
        </p:spPr>
        <p:txBody>
          <a:bodyPr wrap="square" lIns="0" tIns="0" rIns="0" bIns="0" rtlCol="0" anchor="ctr"/>
          <a:lstStyle/>
          <a:p>
            <a:pPr marL="0" indent="0">
              <a:buNone/>
            </a:pPr>
            <a:r>
              <a:rPr lang="en-US" sz="2400" b="1" dirty="0">
                <a:solidFill>
                  <a:schemeClr val="accent1"/>
                </a:solidFill>
                <a:latin typeface="+mn-lt" pitchFamily="34" charset="0"/>
                <a:ea typeface="+mn-lt" pitchFamily="34" charset="-122"/>
                <a:cs typeface="+mn-lt" pitchFamily="34" charset="-120"/>
              </a:rPr>
              <a:t>98.55%</a:t>
            </a:r>
            <a:endParaRPr lang="en-US" sz="2400" dirty="0"/>
          </a:p>
        </p:txBody>
      </p:sp>
      <p:sp>
        <p:nvSpPr>
          <p:cNvPr id="11" name="Text 9"/>
          <p:cNvSpPr txBox="1"/>
          <p:nvPr/>
        </p:nvSpPr>
        <p:spPr>
          <a:xfrm>
            <a:off x="731520" y="3429000"/>
            <a:ext cx="3566160" cy="548640"/>
          </a:xfrm>
          <a:prstGeom prst="rect">
            <a:avLst/>
          </a:prstGeom>
          <a:noFill/>
          <a:ln/>
        </p:spPr>
        <p:txBody>
          <a:bodyPr wrap="square" lIns="0" tIns="0" rIns="0" bIns="0" rtlCol="0" anchor="t"/>
          <a:lstStyle/>
          <a:p>
            <a:pPr marL="0" indent="0">
              <a:buNone/>
            </a:pPr>
            <a:r>
              <a:rPr lang="en-US" sz="1300" dirty="0">
                <a:solidFill>
                  <a:srgbClr val="E3E7EB"/>
                </a:solidFill>
                <a:latin typeface="+mn-lt" pitchFamily="34" charset="0"/>
                <a:ea typeface="+mn-lt" pitchFamily="34" charset="-122"/>
                <a:cs typeface="+mn-lt" pitchFamily="34" charset="-120"/>
              </a:rPr>
              <a:t>accuracy, 0.78 recall and 0.79 F1 for the tuned Decision Tree</a:t>
            </a:r>
            <a:endParaRPr lang="en-US" sz="1300" dirty="0"/>
          </a:p>
        </p:txBody>
      </p:sp>
      <p:sp>
        <p:nvSpPr>
          <p:cNvPr id="12" name="card-dark"/>
          <p:cNvSpPr/>
          <p:nvPr/>
        </p:nvSpPr>
        <p:spPr>
          <a:xfrm>
            <a:off x="4663440" y="2788920"/>
            <a:ext cx="3931920" cy="1280160"/>
          </a:xfrm>
          <a:prstGeom prst="roundRect">
            <a:avLst>
              <a:gd name="adj" fmla="val 5714"/>
            </a:avLst>
          </a:prstGeom>
          <a:solidFill>
            <a:schemeClr val="tx2"/>
          </a:solidFill>
          <a:ln w="12700">
            <a:solidFill>
              <a:schemeClr val="tx2"/>
            </a:solidFill>
            <a:prstDash val="solid"/>
          </a:ln>
        </p:spPr>
      </p:sp>
      <p:sp>
        <p:nvSpPr>
          <p:cNvPr id="13" name="Text 11"/>
          <p:cNvSpPr txBox="1"/>
          <p:nvPr/>
        </p:nvSpPr>
        <p:spPr>
          <a:xfrm>
            <a:off x="4846320" y="2898648"/>
            <a:ext cx="3566160" cy="502920"/>
          </a:xfrm>
          <a:prstGeom prst="rect">
            <a:avLst/>
          </a:prstGeom>
          <a:noFill/>
          <a:ln/>
        </p:spPr>
        <p:txBody>
          <a:bodyPr wrap="square" lIns="0" tIns="0" rIns="0" bIns="0" rtlCol="0" anchor="ctr"/>
          <a:lstStyle/>
          <a:p>
            <a:pPr marL="0" indent="0">
              <a:buNone/>
            </a:pPr>
            <a:r>
              <a:rPr lang="en-US" sz="2400" b="1" dirty="0">
                <a:solidFill>
                  <a:schemeClr val="accent1"/>
                </a:solidFill>
                <a:latin typeface="+mn-lt" pitchFamily="34" charset="0"/>
                <a:ea typeface="+mn-lt" pitchFamily="34" charset="-122"/>
                <a:cs typeface="+mn-lt" pitchFamily="34" charset="-120"/>
              </a:rPr>
              <a:t>Decision support</a:t>
            </a:r>
            <a:endParaRPr lang="en-US" sz="2400" dirty="0"/>
          </a:p>
        </p:txBody>
      </p:sp>
      <p:sp>
        <p:nvSpPr>
          <p:cNvPr id="14" name="Text 12"/>
          <p:cNvSpPr txBox="1"/>
          <p:nvPr/>
        </p:nvSpPr>
        <p:spPr>
          <a:xfrm>
            <a:off x="4846320" y="3429000"/>
            <a:ext cx="3566160" cy="548640"/>
          </a:xfrm>
          <a:prstGeom prst="rect">
            <a:avLst/>
          </a:prstGeom>
          <a:noFill/>
          <a:ln/>
        </p:spPr>
        <p:txBody>
          <a:bodyPr wrap="square" lIns="0" tIns="0" rIns="0" bIns="0" rtlCol="0" anchor="t"/>
          <a:lstStyle/>
          <a:p>
            <a:pPr marL="0" indent="0">
              <a:buNone/>
            </a:pPr>
            <a:r>
              <a:rPr lang="en-US" sz="1300" dirty="0">
                <a:solidFill>
                  <a:srgbClr val="E3E7EB"/>
                </a:solidFill>
                <a:latin typeface="+mn-lt" pitchFamily="34" charset="0"/>
                <a:ea typeface="+mn-lt" pitchFamily="34" charset="-122"/>
                <a:cs typeface="+mn-lt" pitchFamily="34" charset="-120"/>
              </a:rPr>
              <a:t>not a replacement for engineering inspection</a:t>
            </a:r>
            <a:endParaRPr lang="en-US" sz="1300" dirty="0"/>
          </a:p>
        </p:txBody>
      </p:sp>
      <p:sp>
        <p:nvSpPr>
          <p:cNvPr id="15" name="Text 13"/>
          <p:cNvSpPr txBox="1"/>
          <p:nvPr/>
        </p:nvSpPr>
        <p:spPr>
          <a:xfrm>
            <a:off x="548640" y="4297680"/>
            <a:ext cx="8046720" cy="411480"/>
          </a:xfrm>
          <a:prstGeom prst="rect">
            <a:avLst/>
          </a:prstGeom>
          <a:noFill/>
          <a:ln/>
        </p:spPr>
        <p:txBody>
          <a:bodyPr wrap="square" lIns="0" tIns="0" rIns="0" bIns="0" rtlCol="0" anchor="ctr"/>
          <a:lstStyle/>
          <a:p>
            <a:pPr marL="0" indent="0">
              <a:buNone/>
            </a:pPr>
            <a:r>
              <a:rPr lang="en-US" sz="2000" b="1" dirty="0">
                <a:solidFill>
                  <a:schemeClr val="bg1"/>
                </a:solidFill>
                <a:latin typeface="+mn-lt" pitchFamily="34" charset="0"/>
                <a:ea typeface="+mn-lt" pitchFamily="34" charset="-122"/>
                <a:cs typeface="+mn-lt"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Predictive Maintenance">
  <a:themeElements>
    <a:clrScheme name="Predictive Maintenance">
      <a:dk1>
        <a:srgbClr val="1F2A36"/>
      </a:dk1>
      <a:lt1>
        <a:srgbClr val="FFFFFF"/>
      </a:lt1>
      <a:dk2>
        <a:srgbClr val="33475B"/>
      </a:dk2>
      <a:lt2>
        <a:srgbClr val="F4F6F8"/>
      </a:lt2>
      <a:accent1>
        <a:srgbClr val="E8730C"/>
      </a:accent1>
      <a:accent2>
        <a:srgbClr val="2A9D8F"/>
      </a:accent2>
      <a:accent3>
        <a:srgbClr val="5B6670"/>
      </a:accent3>
      <a:accent4>
        <a:srgbClr val="FBE3CE"/>
      </a:accent4>
      <a:accent5>
        <a:srgbClr val="1D6F8C"/>
      </a:accent5>
      <a:accent6>
        <a:srgbClr val="C9D0D7"/>
      </a:accent6>
      <a:hlink>
        <a:srgbClr val="1D6F8C"/>
      </a:hlink>
      <a:folHlink>
        <a:srgbClr val="5B6670"/>
      </a:folHlink>
    </a:clrScheme>
    <a:fontScheme name="Predictive Maintena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4</TotalTime>
  <Words>1522</Words>
  <Application>Microsoft Office PowerPoint</Application>
  <PresentationFormat>On-screen Show (16:9)</PresentationFormat>
  <Paragraphs>277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Predictive Maintenance</vt:lpstr>
      <vt:lpstr>AI-Powered Predictive Maintenance System</vt:lpstr>
      <vt:lpstr>Unplanned downtime is costly</vt:lpstr>
      <vt:lpstr>The data at a glance</vt:lpstr>
      <vt:lpstr>Our approach</vt:lpstr>
      <vt:lpstr>Failed machines work harder</vt:lpstr>
      <vt:lpstr>Each failure mode has a signature</vt:lpstr>
      <vt:lpstr>Why accuracy misleads</vt:lpstr>
      <vt:lpstr>Six models, tuned and compared</vt:lpstr>
      <vt:lpstr>Failure detection by model</vt:lpstr>
      <vt:lpstr>Selected: tuned Decision Tree</vt:lpstr>
      <vt:lpstr>It ranks risky machines well</vt:lpstr>
      <vt:lpstr>What drives the predictions</vt:lpstr>
      <vt:lpstr>From prediction to action</vt:lpstr>
      <vt:lpstr>Scenario testing</vt:lpstr>
      <vt:lpstr>Power BI Dashboard</vt:lpstr>
      <vt:lpstr>Limitations and next steps</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Predictive Maintenance System</dc:title>
  <dc:subject>PptxGenJS Presentation</dc:subject>
  <dc:creator>Shivam Kumar Rajput</dc:creator>
  <cp:lastModifiedBy>shivam rajput</cp:lastModifiedBy>
  <cp:revision>1</cp:revision>
  <dcterms:created xsi:type="dcterms:W3CDTF">2026-10-29T10:45:24Z</dcterms:created>
  <dcterms:modified xsi:type="dcterms:W3CDTF">2026-10-29T12:55:37Z</dcterms:modified>
</cp:coreProperties>
</file>